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3" r:id="rId9"/>
  </p:sldIdLst>
  <p:sldSz cx="5903913" cy="3959225"/>
  <p:notesSz cx="6858000" cy="9144000"/>
  <p:embeddedFontLst>
    <p:embeddedFont>
      <p:font typeface="Lucida Sans Unicode" panose="020B0602030504020204" pitchFamily="34" charset="0"/>
      <p:regular r:id="rId11"/>
    </p:embeddedFont>
  </p:embeddedFontLst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0421" autoAdjust="0"/>
  </p:normalViewPr>
  <p:slideViewPr>
    <p:cSldViewPr snapToGrid="0">
      <p:cViewPr varScale="1">
        <p:scale>
          <a:sx n="91" d="100"/>
          <a:sy n="91" d="100"/>
        </p:scale>
        <p:origin x="11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28453" y="1143000"/>
            <a:ext cx="460109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28713" y="1143000"/>
            <a:ext cx="460057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206375" indent="-194310">
              <a:lnSpc>
                <a:spcPct val="100000"/>
              </a:lnSpc>
              <a:buFont typeface="Arial" panose="020B0604020202020204"/>
              <a:buAutoNum type="arabicPeriod"/>
              <a:tabLst>
                <a:tab pos="206375" algn="l"/>
              </a:tabLst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28713" y="1143000"/>
            <a:ext cx="460057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28713" y="1143000"/>
            <a:ext cx="460057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28713" y="1143000"/>
            <a:ext cx="460057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28713" y="1143000"/>
            <a:ext cx="460057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28713" y="1143000"/>
            <a:ext cx="460057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28713" y="1143000"/>
            <a:ext cx="460057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28713" y="1143000"/>
            <a:ext cx="460057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38646" y="648584"/>
            <a:ext cx="4431878" cy="1379731"/>
          </a:xfrm>
        </p:spPr>
        <p:txBody>
          <a:bodyPr anchor="b"/>
          <a:lstStyle>
            <a:lvl1pPr algn="ctr">
              <a:defRPr sz="34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38646" y="2081523"/>
            <a:ext cx="4431878" cy="956821"/>
          </a:xfrm>
        </p:spPr>
        <p:txBody>
          <a:bodyPr/>
          <a:lstStyle>
            <a:lvl1pPr marL="0" indent="0" algn="ctr">
              <a:buNone/>
              <a:defRPr sz="1385"/>
            </a:lvl1pPr>
            <a:lvl2pPr marL="264160" indent="0" algn="ctr">
              <a:buNone/>
              <a:defRPr sz="1155"/>
            </a:lvl2pPr>
            <a:lvl3pPr marL="527685" indent="0" algn="ctr">
              <a:buNone/>
              <a:defRPr sz="1040"/>
            </a:lvl3pPr>
            <a:lvl4pPr marL="792480" indent="0" algn="ctr">
              <a:buNone/>
              <a:defRPr sz="925"/>
            </a:lvl4pPr>
            <a:lvl5pPr marL="1056640" indent="0" algn="ctr">
              <a:buNone/>
              <a:defRPr sz="925"/>
            </a:lvl5pPr>
            <a:lvl6pPr marL="1320165" indent="0" algn="ctr">
              <a:buNone/>
              <a:defRPr sz="925"/>
            </a:lvl6pPr>
            <a:lvl7pPr marL="1584325" indent="0" algn="ctr">
              <a:buNone/>
              <a:defRPr sz="925"/>
            </a:lvl7pPr>
            <a:lvl8pPr marL="1848485" indent="0" algn="ctr">
              <a:buNone/>
              <a:defRPr sz="925"/>
            </a:lvl8pPr>
            <a:lvl9pPr marL="2113280" indent="0" algn="ctr">
              <a:buNone/>
              <a:defRPr sz="92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3178" y="988013"/>
            <a:ext cx="5096659" cy="1648522"/>
          </a:xfrm>
        </p:spPr>
        <p:txBody>
          <a:bodyPr anchor="b"/>
          <a:lstStyle>
            <a:lvl1pPr>
              <a:defRPr sz="34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03178" y="2652130"/>
            <a:ext cx="5096659" cy="866919"/>
          </a:xfrm>
        </p:spPr>
        <p:txBody>
          <a:bodyPr/>
          <a:lstStyle>
            <a:lvl1pPr marL="0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1pPr>
            <a:lvl2pPr marL="26416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685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3pPr>
            <a:lvl4pPr marL="792480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4pPr>
            <a:lvl5pPr marL="1056640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5pPr>
            <a:lvl6pPr marL="1320165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6pPr>
            <a:lvl7pPr marL="1584325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7pPr>
            <a:lvl8pPr marL="1848485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8pPr>
            <a:lvl9pPr marL="2113280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6255" y="1054981"/>
            <a:ext cx="2511397" cy="25145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991517" y="1054981"/>
            <a:ext cx="2511397" cy="25145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7025" y="210996"/>
            <a:ext cx="5096659" cy="76600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07025" y="971500"/>
            <a:ext cx="2499856" cy="476117"/>
          </a:xfrm>
        </p:spPr>
        <p:txBody>
          <a:bodyPr anchor="b"/>
          <a:lstStyle>
            <a:lvl1pPr marL="0" indent="0">
              <a:buNone/>
              <a:defRPr sz="1385" b="1"/>
            </a:lvl1pPr>
            <a:lvl2pPr marL="264160" indent="0">
              <a:buNone/>
              <a:defRPr sz="1155" b="1"/>
            </a:lvl2pPr>
            <a:lvl3pPr marL="527685" indent="0">
              <a:buNone/>
              <a:defRPr sz="1040" b="1"/>
            </a:lvl3pPr>
            <a:lvl4pPr marL="792480" indent="0">
              <a:buNone/>
              <a:defRPr sz="925" b="1"/>
            </a:lvl4pPr>
            <a:lvl5pPr marL="1056640" indent="0">
              <a:buNone/>
              <a:defRPr sz="925" b="1"/>
            </a:lvl5pPr>
            <a:lvl6pPr marL="1320165" indent="0">
              <a:buNone/>
              <a:defRPr sz="925" b="1"/>
            </a:lvl6pPr>
            <a:lvl7pPr marL="1584325" indent="0">
              <a:buNone/>
              <a:defRPr sz="925" b="1"/>
            </a:lvl7pPr>
            <a:lvl8pPr marL="1848485" indent="0">
              <a:buNone/>
              <a:defRPr sz="925" b="1"/>
            </a:lvl8pPr>
            <a:lvl9pPr marL="2113280" indent="0">
              <a:buNone/>
              <a:defRPr sz="92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7025" y="1447617"/>
            <a:ext cx="2499856" cy="212922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991517" y="971500"/>
            <a:ext cx="2512167" cy="476117"/>
          </a:xfrm>
        </p:spPr>
        <p:txBody>
          <a:bodyPr anchor="b"/>
          <a:lstStyle>
            <a:lvl1pPr marL="0" indent="0">
              <a:buNone/>
              <a:defRPr sz="1385" b="1"/>
            </a:lvl1pPr>
            <a:lvl2pPr marL="264160" indent="0">
              <a:buNone/>
              <a:defRPr sz="1155" b="1"/>
            </a:lvl2pPr>
            <a:lvl3pPr marL="527685" indent="0">
              <a:buNone/>
              <a:defRPr sz="1040" b="1"/>
            </a:lvl3pPr>
            <a:lvl4pPr marL="792480" indent="0">
              <a:buNone/>
              <a:defRPr sz="925" b="1"/>
            </a:lvl4pPr>
            <a:lvl5pPr marL="1056640" indent="0">
              <a:buNone/>
              <a:defRPr sz="925" b="1"/>
            </a:lvl5pPr>
            <a:lvl6pPr marL="1320165" indent="0">
              <a:buNone/>
              <a:defRPr sz="925" b="1"/>
            </a:lvl6pPr>
            <a:lvl7pPr marL="1584325" indent="0">
              <a:buNone/>
              <a:defRPr sz="925" b="1"/>
            </a:lvl7pPr>
            <a:lvl8pPr marL="1848485" indent="0">
              <a:buNone/>
              <a:defRPr sz="925" b="1"/>
            </a:lvl8pPr>
            <a:lvl9pPr marL="2113280" indent="0">
              <a:buNone/>
              <a:defRPr sz="92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991517" y="1447617"/>
            <a:ext cx="2512167" cy="212922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7025" y="264204"/>
            <a:ext cx="1905861" cy="924714"/>
          </a:xfrm>
        </p:spPr>
        <p:txBody>
          <a:bodyPr anchor="b"/>
          <a:lstStyle>
            <a:lvl1pPr>
              <a:defRPr sz="184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2167" y="570607"/>
            <a:ext cx="2991517" cy="2816340"/>
          </a:xfrm>
        </p:spPr>
        <p:txBody>
          <a:bodyPr/>
          <a:lstStyle>
            <a:lvl1pPr>
              <a:defRPr sz="1845"/>
            </a:lvl1pPr>
            <a:lvl2pPr>
              <a:defRPr sz="1620"/>
            </a:lvl2pPr>
            <a:lvl3pPr>
              <a:defRPr sz="1385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07025" y="1188918"/>
            <a:ext cx="1905861" cy="2202617"/>
          </a:xfrm>
        </p:spPr>
        <p:txBody>
          <a:bodyPr/>
          <a:lstStyle>
            <a:lvl1pPr marL="0" indent="0">
              <a:buNone/>
              <a:defRPr sz="925"/>
            </a:lvl1pPr>
            <a:lvl2pPr marL="264160" indent="0">
              <a:buNone/>
              <a:defRPr sz="810"/>
            </a:lvl2pPr>
            <a:lvl3pPr marL="527685" indent="0">
              <a:buNone/>
              <a:defRPr sz="690"/>
            </a:lvl3pPr>
            <a:lvl4pPr marL="792480" indent="0">
              <a:buNone/>
              <a:defRPr sz="580"/>
            </a:lvl4pPr>
            <a:lvl5pPr marL="1056640" indent="0">
              <a:buNone/>
              <a:defRPr sz="580"/>
            </a:lvl5pPr>
            <a:lvl6pPr marL="1320165" indent="0">
              <a:buNone/>
              <a:defRPr sz="580"/>
            </a:lvl6pPr>
            <a:lvl7pPr marL="1584325" indent="0">
              <a:buNone/>
              <a:defRPr sz="580"/>
            </a:lvl7pPr>
            <a:lvl8pPr marL="1848485" indent="0">
              <a:buNone/>
              <a:defRPr sz="580"/>
            </a:lvl8pPr>
            <a:lvl9pPr marL="2113280" indent="0">
              <a:buNone/>
              <a:defRPr sz="58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7025" y="264204"/>
            <a:ext cx="1905861" cy="924714"/>
          </a:xfrm>
        </p:spPr>
        <p:txBody>
          <a:bodyPr anchor="b"/>
          <a:lstStyle>
            <a:lvl1pPr>
              <a:defRPr sz="184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12167" y="570607"/>
            <a:ext cx="2991517" cy="2816340"/>
          </a:xfrm>
        </p:spPr>
        <p:txBody>
          <a:bodyPr/>
          <a:lstStyle>
            <a:lvl1pPr marL="0" indent="0">
              <a:buNone/>
              <a:defRPr sz="1845"/>
            </a:lvl1pPr>
            <a:lvl2pPr marL="264160" indent="0">
              <a:buNone/>
              <a:defRPr sz="1620"/>
            </a:lvl2pPr>
            <a:lvl3pPr marL="527685" indent="0">
              <a:buNone/>
              <a:defRPr sz="1385"/>
            </a:lvl3pPr>
            <a:lvl4pPr marL="792480" indent="0">
              <a:buNone/>
              <a:defRPr sz="1155"/>
            </a:lvl4pPr>
            <a:lvl5pPr marL="1056640" indent="0">
              <a:buNone/>
              <a:defRPr sz="1155"/>
            </a:lvl5pPr>
            <a:lvl6pPr marL="1320165" indent="0">
              <a:buNone/>
              <a:defRPr sz="1155"/>
            </a:lvl6pPr>
            <a:lvl7pPr marL="1584325" indent="0">
              <a:buNone/>
              <a:defRPr sz="1155"/>
            </a:lvl7pPr>
            <a:lvl8pPr marL="1848485" indent="0">
              <a:buNone/>
              <a:defRPr sz="1155"/>
            </a:lvl8pPr>
            <a:lvl9pPr marL="2113280" indent="0">
              <a:buNone/>
              <a:defRPr sz="115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07025" y="1188918"/>
            <a:ext cx="1905861" cy="2202617"/>
          </a:xfrm>
        </p:spPr>
        <p:txBody>
          <a:bodyPr/>
          <a:lstStyle>
            <a:lvl1pPr marL="0" indent="0">
              <a:buNone/>
              <a:defRPr sz="925"/>
            </a:lvl1pPr>
            <a:lvl2pPr marL="264160" indent="0">
              <a:buNone/>
              <a:defRPr sz="810"/>
            </a:lvl2pPr>
            <a:lvl3pPr marL="527685" indent="0">
              <a:buNone/>
              <a:defRPr sz="690"/>
            </a:lvl3pPr>
            <a:lvl4pPr marL="792480" indent="0">
              <a:buNone/>
              <a:defRPr sz="580"/>
            </a:lvl4pPr>
            <a:lvl5pPr marL="1056640" indent="0">
              <a:buNone/>
              <a:defRPr sz="580"/>
            </a:lvl5pPr>
            <a:lvl6pPr marL="1320165" indent="0">
              <a:buNone/>
              <a:defRPr sz="580"/>
            </a:lvl6pPr>
            <a:lvl7pPr marL="1584325" indent="0">
              <a:buNone/>
              <a:defRPr sz="580"/>
            </a:lvl7pPr>
            <a:lvl8pPr marL="1848485" indent="0">
              <a:buNone/>
              <a:defRPr sz="580"/>
            </a:lvl8pPr>
            <a:lvl9pPr marL="2113280" indent="0">
              <a:buNone/>
              <a:defRPr sz="58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228750" y="210996"/>
            <a:ext cx="1274165" cy="335850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6255" y="210996"/>
            <a:ext cx="3748630" cy="335850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06255" y="210996"/>
            <a:ext cx="5096659" cy="766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06255" y="1054981"/>
            <a:ext cx="5096659" cy="2514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06255" y="3673168"/>
            <a:ext cx="1329563" cy="210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957413" y="3673168"/>
            <a:ext cx="1994345" cy="210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73352" y="3673168"/>
            <a:ext cx="1329563" cy="210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bk object 17"/>
          <p:cNvSpPr/>
          <p:nvPr userDrawn="1"/>
        </p:nvSpPr>
        <p:spPr>
          <a:xfrm>
            <a:off x="44" y="-87"/>
            <a:ext cx="5897832" cy="175827"/>
          </a:xfrm>
          <a:custGeom>
            <a:avLst/>
            <a:gdLst/>
            <a:ahLst/>
            <a:cxnLst/>
            <a:rect l="l" t="t" r="r" b="b"/>
            <a:pathLst>
              <a:path w="5860671" h="175815">
                <a:moveTo>
                  <a:pt x="0" y="175815"/>
                </a:moveTo>
                <a:lnTo>
                  <a:pt x="5860671" y="175815"/>
                </a:lnTo>
                <a:lnTo>
                  <a:pt x="5860671" y="0"/>
                </a:lnTo>
                <a:lnTo>
                  <a:pt x="0" y="0"/>
                </a:lnTo>
                <a:lnTo>
                  <a:pt x="0" y="175815"/>
                </a:lnTo>
                <a:close/>
              </a:path>
            </a:pathLst>
          </a:custGeom>
          <a:solidFill>
            <a:srgbClr val="23237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bk object 16"/>
          <p:cNvSpPr/>
          <p:nvPr userDrawn="1"/>
        </p:nvSpPr>
        <p:spPr>
          <a:xfrm>
            <a:off x="5584402" y="3399597"/>
            <a:ext cx="208191" cy="27353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2"/>
          <p:cNvSpPr txBox="1"/>
          <p:nvPr userDrawn="1"/>
        </p:nvSpPr>
        <p:spPr>
          <a:xfrm>
            <a:off x="59634" y="78389"/>
            <a:ext cx="819231" cy="1098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6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DI 31001</a:t>
            </a:r>
            <a:r>
              <a:rPr sz="6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b="1" spc="-4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6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b="1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Networks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27685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080" indent="-132080" algn="l" defTabSz="527685" rtl="0" eaLnBrk="1" latinLnBrk="0" hangingPunct="1">
        <a:lnSpc>
          <a:spcPct val="90000"/>
        </a:lnSpc>
        <a:spcBef>
          <a:spcPct val="11600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396240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660400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4560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5pPr>
      <a:lvl6pPr marL="1452245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6pPr>
      <a:lvl7pPr marL="1716405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7pPr>
      <a:lvl8pPr marL="1980565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8pPr>
      <a:lvl9pPr marL="2244725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1pPr>
      <a:lvl2pPr marL="264160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2pPr>
      <a:lvl3pPr marL="527685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3pPr>
      <a:lvl4pPr marL="792480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4pPr>
      <a:lvl5pPr marL="1056640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6pPr>
      <a:lvl7pPr marL="1584325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7pPr>
      <a:lvl8pPr marL="1848485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8pPr>
      <a:lvl9pPr marL="2113280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jpg"/><Relationship Id="rId5" Type="http://schemas.openxmlformats.org/officeDocument/2006/relationships/hyperlink" Target="mailto:l.magerand%40dundee.ac.uk" TargetMode="Externa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sleris!~sleris%40134.36.37.xx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object 2"/>
          <p:cNvSpPr/>
          <p:nvPr/>
        </p:nvSpPr>
        <p:spPr>
          <a:xfrm>
            <a:off x="604580" y="1509068"/>
            <a:ext cx="5274941" cy="58614"/>
          </a:xfrm>
          <a:custGeom>
            <a:avLst/>
            <a:gdLst/>
            <a:ahLst/>
            <a:cxnLst/>
            <a:rect l="l" t="t" r="r" b="b"/>
            <a:pathLst>
              <a:path w="5274568" h="58610">
                <a:moveTo>
                  <a:pt x="0" y="58610"/>
                </a:moveTo>
                <a:lnTo>
                  <a:pt x="5274568" y="58610"/>
                </a:lnTo>
                <a:lnTo>
                  <a:pt x="5274568" y="0"/>
                </a:lnTo>
                <a:lnTo>
                  <a:pt x="0" y="0"/>
                </a:lnTo>
                <a:lnTo>
                  <a:pt x="0" y="58610"/>
                </a:lnTo>
                <a:close/>
              </a:path>
            </a:pathLst>
          </a:custGeom>
          <a:solidFill>
            <a:srgbClr val="2D2DA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4"/>
          <p:cNvSpPr/>
          <p:nvPr/>
        </p:nvSpPr>
        <p:spPr>
          <a:xfrm>
            <a:off x="406529" y="1771805"/>
            <a:ext cx="2149151" cy="21491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graphicFrame>
        <p:nvGraphicFramePr>
          <p:cNvPr id="72" name="object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4454599"/>
              </p:ext>
            </p:extLst>
          </p:nvPr>
        </p:nvGraphicFramePr>
        <p:xfrm>
          <a:off x="0" y="0"/>
          <a:ext cx="5903595" cy="166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4905">
                <a:tc gridSpan="2"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sz="1700" b="1" dirty="0">
                          <a:solidFill>
                            <a:srgbClr val="23237C"/>
                          </a:solidFill>
                          <a:latin typeface="Arial" panose="020B0604020202020204"/>
                          <a:cs typeface="Arial" panose="020B0604020202020204"/>
                        </a:rPr>
                        <a:t>Networks:</a:t>
                      </a:r>
                      <a:r>
                        <a:rPr sz="1700" b="1" spc="50" dirty="0">
                          <a:solidFill>
                            <a:srgbClr val="23237C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00" b="1" spc="0" dirty="0">
                          <a:solidFill>
                            <a:srgbClr val="23237C"/>
                          </a:solidFill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700" b="1" spc="-35" dirty="0">
                          <a:solidFill>
                            <a:srgbClr val="23237C"/>
                          </a:solidFill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700" b="1" spc="0" dirty="0">
                          <a:solidFill>
                            <a:srgbClr val="23237C"/>
                          </a:solidFill>
                          <a:latin typeface="Arial" panose="020B0604020202020204"/>
                          <a:cs typeface="Arial" panose="020B0604020202020204"/>
                        </a:rPr>
                        <a:t>og</a:t>
                      </a:r>
                      <a:r>
                        <a:rPr sz="1700" b="1" spc="-35" dirty="0">
                          <a:solidFill>
                            <a:srgbClr val="23237C"/>
                          </a:solidFill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700" b="1" spc="0" dirty="0">
                          <a:solidFill>
                            <a:srgbClr val="23237C"/>
                          </a:solidFill>
                          <a:latin typeface="Arial" panose="020B0604020202020204"/>
                          <a:cs typeface="Arial" panose="020B0604020202020204"/>
                        </a:rPr>
                        <a:t>amming</a:t>
                      </a:r>
                      <a:endParaRPr sz="1700" dirty="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>
                        <a:lnSpc>
                          <a:spcPts val="1000"/>
                        </a:lnSpc>
                        <a:spcBef>
                          <a:spcPts val="80"/>
                        </a:spcBef>
                      </a:pPr>
                      <a:endParaRPr sz="1000" dirty="0"/>
                    </a:p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US" sz="1050" b="1" spc="-25" dirty="0">
                          <a:solidFill>
                            <a:srgbClr val="23237C"/>
                          </a:solidFill>
                          <a:latin typeface="Arial" panose="020B0604020202020204"/>
                          <a:cs typeface="Arial" panose="020B0604020202020204"/>
                        </a:rPr>
                        <a:t>DI 31001</a:t>
                      </a:r>
                      <a:endParaRPr sz="1050" dirty="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>
                        <a:lnSpc>
                          <a:spcPts val="650"/>
                        </a:lnSpc>
                        <a:spcBef>
                          <a:spcPts val="35"/>
                        </a:spcBef>
                      </a:pPr>
                      <a:endParaRPr sz="650" dirty="0"/>
                    </a:p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sz="1700" b="1" i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700" b="1" i="1" spc="-3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700" b="1" i="1" spc="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oject</a:t>
                      </a:r>
                      <a:r>
                        <a:rPr sz="1700" b="1" i="1" spc="-2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00" b="1" i="1" spc="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Int</a:t>
                      </a:r>
                      <a:r>
                        <a:rPr sz="1700" b="1" i="1" spc="-3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700" b="1" i="1" spc="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oduction</a:t>
                      </a:r>
                      <a:endParaRPr sz="17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solidFill>
                      <a:srgbClr val="ADAD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715">
                <a:tc rowSpan="2">
                  <a:txBody>
                    <a:bodyPr/>
                    <a:lstStyle/>
                    <a:p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solidFill>
                      <a:srgbClr val="ADADE0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solidFill>
                      <a:srgbClr val="2323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7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solidFill>
                      <a:srgbClr val="ADADE0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solidFill>
                      <a:srgbClr val="ADA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3" name="object 5"/>
          <p:cNvSpPr txBox="1"/>
          <p:nvPr/>
        </p:nvSpPr>
        <p:spPr>
          <a:xfrm>
            <a:off x="3453982" y="2255064"/>
            <a:ext cx="1921011" cy="3816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0" algn="ctr">
              <a:lnSpc>
                <a:spcPct val="100000"/>
              </a:lnSpc>
            </a:pPr>
            <a:r>
              <a:rPr lang="en-US" sz="1200" spc="40" dirty="0">
                <a:latin typeface="Arial" panose="020B0604020202020204"/>
                <a:cs typeface="Arial" panose="020B0604020202020204"/>
              </a:rPr>
              <a:t>Deng Li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lang="en-US" altLang="zh-CN" sz="1050" spc="95" dirty="0">
                <a:latin typeface="Arial" panose="020B0604020202020204"/>
                <a:cs typeface="Arial" panose="020B0604020202020204"/>
                <a:hlinkClick r:id="rId5"/>
              </a:rPr>
              <a:t>d.li</a:t>
            </a:r>
            <a:r>
              <a:rPr sz="1050" spc="95" dirty="0">
                <a:latin typeface="Arial" panose="020B0604020202020204"/>
                <a:cs typeface="Arial" panose="020B0604020202020204"/>
                <a:hlinkClick r:id="rId5"/>
              </a:rPr>
              <a:t>@</a:t>
            </a:r>
            <a:r>
              <a:rPr lang="en-US" sz="1050" spc="95" dirty="0">
                <a:latin typeface="Arial" panose="020B0604020202020204"/>
                <a:cs typeface="Arial" panose="020B0604020202020204"/>
              </a:rPr>
              <a:t>csu.edu.cn</a:t>
            </a:r>
            <a:endParaRPr sz="10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5" name="object 7"/>
          <p:cNvSpPr txBox="1"/>
          <p:nvPr/>
        </p:nvSpPr>
        <p:spPr>
          <a:xfrm>
            <a:off x="3709070" y="3500269"/>
            <a:ext cx="1410435" cy="18289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050" spc="30" dirty="0">
                <a:latin typeface="Arial" panose="020B0604020202020204"/>
                <a:cs typeface="Arial" panose="020B0604020202020204"/>
              </a:rPr>
              <a:t>Semester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1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-50" dirty="0">
                <a:latin typeface="Arial" panose="020B0604020202020204"/>
                <a:cs typeface="Arial" panose="020B0604020202020204"/>
              </a:rPr>
              <a:t>–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40" dirty="0">
                <a:latin typeface="Arial" panose="020B0604020202020204"/>
                <a:cs typeface="Arial" panose="020B0604020202020204"/>
              </a:rPr>
              <a:t>202</a:t>
            </a:r>
            <a:r>
              <a:rPr lang="en-US" sz="1050" spc="40" dirty="0">
                <a:latin typeface="Arial" panose="020B0604020202020204"/>
                <a:cs typeface="Arial" panose="020B0604020202020204"/>
              </a:rPr>
              <a:t>4</a:t>
            </a:r>
            <a:r>
              <a:rPr sz="1050" spc="40" dirty="0">
                <a:latin typeface="Arial" panose="020B0604020202020204"/>
                <a:cs typeface="Arial" panose="020B0604020202020204"/>
              </a:rPr>
              <a:t>/2</a:t>
            </a:r>
            <a:r>
              <a:rPr lang="en-US" sz="1050" spc="40" dirty="0">
                <a:latin typeface="Arial" panose="020B0604020202020204"/>
                <a:cs typeface="Arial" panose="020B0604020202020204"/>
              </a:rPr>
              <a:t>5</a:t>
            </a:r>
            <a:endParaRPr sz="105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图片 2" descr="文本&#10;&#10;低可信度描述已自动生成">
            <a:extLst>
              <a:ext uri="{FF2B5EF4-FFF2-40B4-BE49-F238E27FC236}">
                <a16:creationId xmlns:a16="http://schemas.microsoft.com/office/drawing/2014/main" id="{A551899D-C791-5521-CE61-3950DCA31B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897" y="2692765"/>
            <a:ext cx="3156621" cy="4806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/>
          <p:nvPr/>
        </p:nvSpPr>
        <p:spPr>
          <a:xfrm>
            <a:off x="5048191" y="78389"/>
            <a:ext cx="798887" cy="1098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600" b="1" spc="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6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600" b="1" spc="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oject</a:t>
            </a:r>
            <a:r>
              <a:rPr sz="6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Int</a:t>
            </a:r>
            <a:r>
              <a:rPr sz="600" b="1" spc="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600" b="1" spc="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oduction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370726" y="463039"/>
            <a:ext cx="5258172" cy="2876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5244465" algn="l"/>
              </a:tabLst>
            </a:pPr>
            <a:r>
              <a:rPr sz="1700" b="1" u="sng" spc="10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What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5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7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will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8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learn</a:t>
            </a:r>
            <a:r>
              <a:rPr sz="1700" b="1" u="sng" spc="56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	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6"/>
          <p:cNvSpPr txBox="1"/>
          <p:nvPr/>
        </p:nvSpPr>
        <p:spPr>
          <a:xfrm>
            <a:off x="253498" y="1196986"/>
            <a:ext cx="2489376" cy="64965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spc="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1200" b="1" spc="-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200" b="1" spc="9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5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200" b="1" spc="1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200" b="1" spc="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otocols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8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200" b="1" spc="3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200" b="1" spc="4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3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defined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>
              <a:lnSpc>
                <a:spcPts val="600"/>
              </a:lnSpc>
              <a:spcBef>
                <a:spcPts val="10"/>
              </a:spcBef>
            </a:pPr>
            <a:endParaRPr sz="600"/>
          </a:p>
          <a:p>
            <a:pPr marL="223520" marR="12700">
              <a:lnSpc>
                <a:spcPct val="100000"/>
              </a:lnSpc>
            </a:pPr>
            <a:r>
              <a:rPr sz="1200" spc="30" dirty="0">
                <a:latin typeface="Arial" panose="020B0604020202020204"/>
                <a:cs typeface="Arial" panose="020B0604020202020204"/>
              </a:rPr>
              <a:t>Being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able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5" dirty="0">
                <a:latin typeface="Arial" panose="020B0604020202020204"/>
                <a:cs typeface="Arial" panose="020B0604020202020204"/>
              </a:rPr>
              <a:t>to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0" dirty="0">
                <a:latin typeface="Arial" panose="020B0604020202020204"/>
                <a:cs typeface="Arial" panose="020B0604020202020204"/>
              </a:rPr>
              <a:t>understand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a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114" dirty="0">
                <a:latin typeface="Arial" panose="020B0604020202020204"/>
                <a:cs typeface="Arial" panose="020B0604020202020204"/>
              </a:rPr>
              <a:t>RFC</a:t>
            </a:r>
            <a:r>
              <a:rPr sz="1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60" dirty="0">
                <a:latin typeface="Arial" panose="020B0604020202020204"/>
                <a:cs typeface="Arial" panose="020B0604020202020204"/>
              </a:rPr>
              <a:t>(IETF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00" dirty="0">
                <a:latin typeface="Arial" panose="020B0604020202020204"/>
                <a:cs typeface="Arial" panose="020B0604020202020204"/>
              </a:rPr>
              <a:t>p</a:t>
            </a:r>
            <a:r>
              <a:rPr sz="1200" spc="3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45" dirty="0">
                <a:latin typeface="Arial" panose="020B0604020202020204"/>
                <a:cs typeface="Arial" panose="020B0604020202020204"/>
              </a:rPr>
              <a:t>otocol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0" dirty="0">
                <a:latin typeface="Arial" panose="020B0604020202020204"/>
                <a:cs typeface="Arial" panose="020B0604020202020204"/>
              </a:rPr>
              <a:t>specification)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3498" y="1991490"/>
            <a:ext cx="2604319" cy="1506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697230">
              <a:lnSpc>
                <a:spcPct val="100000"/>
              </a:lnSpc>
            </a:pPr>
            <a:r>
              <a:rPr sz="1200" b="1" spc="1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200" b="1" spc="-2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200" b="1" spc="4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og</a:t>
            </a:r>
            <a:r>
              <a:rPr sz="1200" b="1" spc="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200" b="1" spc="6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amming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6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network</a:t>
            </a:r>
            <a:r>
              <a:rPr sz="1200" b="1" spc="3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(client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side)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>
              <a:lnSpc>
                <a:spcPts val="500"/>
              </a:lnSpc>
              <a:spcBef>
                <a:spcPts val="10"/>
              </a:spcBef>
            </a:pPr>
            <a:endParaRPr sz="500"/>
          </a:p>
          <a:p>
            <a:pPr marL="223520" marR="12700">
              <a:lnSpc>
                <a:spcPct val="100000"/>
              </a:lnSpc>
            </a:pPr>
            <a:r>
              <a:rPr sz="1200" spc="35" dirty="0">
                <a:latin typeface="Arial" panose="020B0604020202020204"/>
                <a:cs typeface="Arial" panose="020B0604020202020204"/>
              </a:rPr>
              <a:t>Connecting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5" dirty="0">
                <a:latin typeface="Arial" panose="020B0604020202020204"/>
                <a:cs typeface="Arial" panose="020B0604020202020204"/>
              </a:rPr>
              <a:t>to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a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server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95" dirty="0">
                <a:latin typeface="Arial" panose="020B0604020202020204"/>
                <a:cs typeface="Arial" panose="020B0604020202020204"/>
              </a:rPr>
              <a:t>th</a:t>
            </a:r>
            <a:r>
              <a:rPr sz="1200" spc="5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ough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a</a:t>
            </a:r>
            <a:r>
              <a:rPr sz="1200" spc="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95" dirty="0">
                <a:latin typeface="Arial" panose="020B0604020202020204"/>
                <a:cs typeface="Arial" panose="020B0604020202020204"/>
              </a:rPr>
              <a:t>TCP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socket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23520" marR="185420">
              <a:lnSpc>
                <a:spcPct val="125000"/>
              </a:lnSpc>
            </a:pPr>
            <a:r>
              <a:rPr sz="1200" spc="25" dirty="0">
                <a:latin typeface="Arial" panose="020B0604020202020204"/>
                <a:cs typeface="Arial" panose="020B0604020202020204"/>
              </a:rPr>
              <a:t>Sending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data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5" dirty="0">
                <a:latin typeface="Arial" panose="020B0604020202020204"/>
                <a:cs typeface="Arial" panose="020B0604020202020204"/>
              </a:rPr>
              <a:t>to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the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server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Receiving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data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80" dirty="0">
                <a:latin typeface="Arial" panose="020B0604020202020204"/>
                <a:cs typeface="Arial" panose="020B0604020202020204"/>
              </a:rPr>
              <a:t>f</a:t>
            </a:r>
            <a:r>
              <a:rPr sz="1200" spc="7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80" dirty="0">
                <a:latin typeface="Arial" panose="020B0604020202020204"/>
                <a:cs typeface="Arial" panose="020B0604020202020204"/>
              </a:rPr>
              <a:t>om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the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server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 Reacting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5" dirty="0">
                <a:latin typeface="Arial" panose="020B0604020202020204"/>
                <a:cs typeface="Arial" panose="020B0604020202020204"/>
              </a:rPr>
              <a:t>to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0" dirty="0">
                <a:latin typeface="Arial" panose="020B0604020202020204"/>
                <a:cs typeface="Arial" panose="020B0604020202020204"/>
              </a:rPr>
              <a:t>commands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5" dirty="0">
                <a:latin typeface="Arial" panose="020B0604020202020204"/>
                <a:cs typeface="Arial" panose="020B0604020202020204"/>
              </a:rPr>
              <a:t>in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data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66835" y="1145157"/>
            <a:ext cx="2416981" cy="132406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509270">
              <a:lnSpc>
                <a:spcPct val="100000"/>
              </a:lnSpc>
            </a:pPr>
            <a:r>
              <a:rPr sz="1200" b="1" spc="1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200" b="1" spc="-2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200" b="1" spc="4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og</a:t>
            </a:r>
            <a:r>
              <a:rPr sz="1200" b="1" spc="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200" b="1" spc="6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amming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6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network</a:t>
            </a:r>
            <a:r>
              <a:rPr sz="1200" b="1" spc="3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2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(server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side)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23520" marR="12700">
              <a:lnSpc>
                <a:spcPct val="125000"/>
              </a:lnSpc>
              <a:spcBef>
                <a:spcPts val="150"/>
              </a:spcBef>
            </a:pPr>
            <a:r>
              <a:rPr sz="1200" spc="-50" dirty="0">
                <a:latin typeface="Arial" panose="020B0604020202020204"/>
                <a:cs typeface="Arial" panose="020B0604020202020204"/>
              </a:rPr>
              <a:t>W</a:t>
            </a:r>
            <a:r>
              <a:rPr sz="1200" spc="50" dirty="0">
                <a:latin typeface="Arial" panose="020B0604020202020204"/>
                <a:cs typeface="Arial" panose="020B0604020202020204"/>
              </a:rPr>
              <a:t>aiting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0" dirty="0">
                <a:latin typeface="Arial" panose="020B0604020202020204"/>
                <a:cs typeface="Arial" panose="020B0604020202020204"/>
              </a:rPr>
              <a:t>for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clients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5" dirty="0">
                <a:latin typeface="Arial" panose="020B0604020202020204"/>
                <a:cs typeface="Arial" panose="020B0604020202020204"/>
              </a:rPr>
              <a:t>to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5" dirty="0">
                <a:latin typeface="Arial" panose="020B0604020202020204"/>
                <a:cs typeface="Arial" panose="020B0604020202020204"/>
              </a:rPr>
              <a:t>connect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Receiving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data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80" dirty="0">
                <a:latin typeface="Arial" panose="020B0604020202020204"/>
                <a:cs typeface="Arial" panose="020B0604020202020204"/>
              </a:rPr>
              <a:t>f</a:t>
            </a:r>
            <a:r>
              <a:rPr sz="1200" spc="7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80" dirty="0">
                <a:latin typeface="Arial" panose="020B0604020202020204"/>
                <a:cs typeface="Arial" panose="020B0604020202020204"/>
              </a:rPr>
              <a:t>om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client(s)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Sending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data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5" dirty="0">
                <a:latin typeface="Arial" panose="020B0604020202020204"/>
                <a:cs typeface="Arial" panose="020B0604020202020204"/>
              </a:rPr>
              <a:t>to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client(s)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 Reacting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5" dirty="0">
                <a:latin typeface="Arial" panose="020B0604020202020204"/>
                <a:cs typeface="Arial" panose="020B0604020202020204"/>
              </a:rPr>
              <a:t>to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0" dirty="0">
                <a:latin typeface="Arial" panose="020B0604020202020204"/>
                <a:cs typeface="Arial" panose="020B0604020202020204"/>
              </a:rPr>
              <a:t>commands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5" dirty="0">
                <a:latin typeface="Arial" panose="020B0604020202020204"/>
                <a:cs typeface="Arial" panose="020B0604020202020204"/>
              </a:rPr>
              <a:t>in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data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66835" y="2705522"/>
            <a:ext cx="1902595" cy="8433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36830">
              <a:lnSpc>
                <a:spcPct val="100000"/>
              </a:lnSpc>
            </a:pPr>
            <a:r>
              <a:rPr sz="1200" b="1" spc="1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200" b="1" spc="-2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200" b="1" spc="4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og</a:t>
            </a:r>
            <a:r>
              <a:rPr sz="1200" b="1" spc="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200" b="1" spc="6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amming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3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language,</a:t>
            </a:r>
            <a:r>
              <a:rPr sz="1200" b="1" spc="2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6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two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choices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23520">
              <a:lnSpc>
                <a:spcPct val="100000"/>
              </a:lnSpc>
              <a:spcBef>
                <a:spcPts val="330"/>
              </a:spcBef>
            </a:pPr>
            <a:r>
              <a:rPr sz="1200" spc="35" dirty="0">
                <a:latin typeface="Arial" panose="020B0604020202020204"/>
                <a:cs typeface="Arial" panose="020B0604020202020204"/>
              </a:rPr>
              <a:t>Python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(easier)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23520">
              <a:lnSpc>
                <a:spcPct val="100000"/>
              </a:lnSpc>
              <a:spcBef>
                <a:spcPts val="360"/>
              </a:spcBef>
            </a:pPr>
            <a:r>
              <a:rPr sz="1200" spc="-30" dirty="0">
                <a:latin typeface="Arial" panose="020B0604020202020204"/>
                <a:cs typeface="Arial" panose="020B0604020202020204"/>
              </a:rPr>
              <a:t>C/C++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(mo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advanced)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5939" y="3778569"/>
            <a:ext cx="184163" cy="1098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600" b="1" spc="5" dirty="0">
                <a:latin typeface="Arial" panose="020B0604020202020204"/>
                <a:cs typeface="Arial" panose="020B0604020202020204"/>
              </a:rPr>
              <a:t>1</a:t>
            </a:r>
            <a:r>
              <a:rPr sz="6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600" b="1" spc="80" dirty="0">
                <a:latin typeface="Arial" panose="020B0604020202020204"/>
                <a:cs typeface="Arial" panose="020B0604020202020204"/>
              </a:rPr>
              <a:t>/</a:t>
            </a:r>
            <a:r>
              <a:rPr sz="6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600" b="1" spc="5" dirty="0">
                <a:latin typeface="Arial" panose="020B0604020202020204"/>
                <a:cs typeface="Arial" panose="020B0604020202020204"/>
              </a:rPr>
              <a:t>7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203968" y="3796161"/>
            <a:ext cx="4688890" cy="97654"/>
          </a:xfrm>
          <a:custGeom>
            <a:avLst/>
            <a:gdLst/>
            <a:ahLst/>
            <a:cxnLst/>
            <a:rect l="l" t="t" r="r" b="b"/>
            <a:pathLst>
              <a:path w="4688558" h="97647">
                <a:moveTo>
                  <a:pt x="0" y="97647"/>
                </a:moveTo>
                <a:lnTo>
                  <a:pt x="4688558" y="97647"/>
                </a:lnTo>
                <a:lnTo>
                  <a:pt x="4688558" y="0"/>
                </a:lnTo>
                <a:lnTo>
                  <a:pt x="0" y="0"/>
                </a:lnTo>
                <a:lnTo>
                  <a:pt x="0" y="97647"/>
                </a:lnTo>
                <a:close/>
              </a:path>
            </a:pathLst>
          </a:custGeom>
          <a:solidFill>
            <a:srgbClr val="23237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772" y="3903594"/>
            <a:ext cx="5861086" cy="0"/>
          </a:xfrm>
          <a:custGeom>
            <a:avLst/>
            <a:gdLst/>
            <a:ahLst/>
            <a:cxnLst/>
            <a:rect l="l" t="t" r="r" b="b"/>
            <a:pathLst>
              <a:path w="5860671">
                <a:moveTo>
                  <a:pt x="0" y="0"/>
                </a:moveTo>
                <a:lnTo>
                  <a:pt x="5860671" y="0"/>
                </a:lnTo>
              </a:path>
            </a:pathLst>
          </a:custGeom>
          <a:ln w="20827">
            <a:solidFill>
              <a:srgbClr val="2D2D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7916" y="3932901"/>
            <a:ext cx="5274942" cy="0"/>
          </a:xfrm>
          <a:custGeom>
            <a:avLst/>
            <a:gdLst/>
            <a:ahLst/>
            <a:cxnLst/>
            <a:rect l="l" t="t" r="r" b="b"/>
            <a:pathLst>
              <a:path w="5274569">
                <a:moveTo>
                  <a:pt x="0" y="0"/>
                </a:moveTo>
                <a:lnTo>
                  <a:pt x="5274568" y="0"/>
                </a:lnTo>
              </a:path>
            </a:pathLst>
          </a:custGeom>
          <a:ln w="40323">
            <a:solidFill>
              <a:srgbClr val="4747B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/>
          <p:nvPr/>
        </p:nvSpPr>
        <p:spPr>
          <a:xfrm>
            <a:off x="5049461" y="84104"/>
            <a:ext cx="798887" cy="1098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600" b="1" spc="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6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600" b="1" spc="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oject</a:t>
            </a:r>
            <a:r>
              <a:rPr sz="6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Int</a:t>
            </a:r>
            <a:r>
              <a:rPr sz="600" b="1" spc="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600" b="1" spc="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oduction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1996" y="468754"/>
            <a:ext cx="5258172" cy="215280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00000"/>
              </a:lnSpc>
              <a:tabLst>
                <a:tab pos="5231765" algn="l"/>
              </a:tabLst>
            </a:pPr>
            <a:r>
              <a:rPr sz="1700" b="1" u="sng" spc="4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10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u="sng" spc="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700" b="1" u="sng" spc="5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oject,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6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one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10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u="sng" spc="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700" b="1" u="sng" spc="4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otocol</a:t>
            </a:r>
            <a:r>
              <a:rPr sz="1700" b="1" u="sng" spc="56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	</a:t>
            </a:r>
            <a:endParaRPr sz="170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ts val="1100"/>
              </a:lnSpc>
              <a:spcBef>
                <a:spcPts val="80"/>
              </a:spcBef>
            </a:pPr>
            <a:endParaRPr sz="1100" dirty="0"/>
          </a:p>
          <a:p>
            <a:pPr marL="915035">
              <a:lnSpc>
                <a:spcPct val="100000"/>
              </a:lnSpc>
            </a:pPr>
            <a:r>
              <a:rPr sz="1200" b="1" spc="7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Internet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1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Relay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3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Chat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1125855">
              <a:lnSpc>
                <a:spcPct val="100000"/>
              </a:lnSpc>
              <a:spcBef>
                <a:spcPts val="130"/>
              </a:spcBef>
            </a:pPr>
            <a:r>
              <a:rPr sz="1200" spc="-40" dirty="0">
                <a:latin typeface="Arial" panose="020B0604020202020204"/>
                <a:cs typeface="Arial" panose="020B0604020202020204"/>
              </a:rPr>
              <a:t>A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5" dirty="0">
                <a:latin typeface="Arial" panose="020B0604020202020204"/>
                <a:cs typeface="Arial" panose="020B0604020202020204"/>
              </a:rPr>
              <a:t>messaging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00" dirty="0">
                <a:latin typeface="Arial" panose="020B0604020202020204"/>
                <a:cs typeface="Arial" panose="020B0604020202020204"/>
              </a:rPr>
              <a:t>p</a:t>
            </a:r>
            <a:r>
              <a:rPr sz="1200" spc="3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45" dirty="0">
                <a:latin typeface="Arial" panose="020B0604020202020204"/>
                <a:cs typeface="Arial" panose="020B0604020202020204"/>
              </a:rPr>
              <a:t>otocol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5" dirty="0">
                <a:latin typeface="Arial" panose="020B0604020202020204"/>
                <a:cs typeface="Arial" panose="020B0604020202020204"/>
              </a:rPr>
              <a:t>(application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layer)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1153795">
              <a:lnSpc>
                <a:spcPct val="100000"/>
              </a:lnSpc>
              <a:spcBef>
                <a:spcPts val="27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30" dirty="0">
                <a:latin typeface="Arial" panose="020B0604020202020204"/>
                <a:cs typeface="Arial" panose="020B0604020202020204"/>
              </a:rPr>
              <a:t>All</a:t>
            </a:r>
            <a:r>
              <a:rPr sz="1050" spc="20" dirty="0">
                <a:latin typeface="Arial" panose="020B0604020202020204"/>
                <a:cs typeface="Arial" panose="020B0604020202020204"/>
              </a:rPr>
              <a:t>o</a:t>
            </a:r>
            <a:r>
              <a:rPr sz="1050" spc="35" dirty="0">
                <a:latin typeface="Arial" panose="020B0604020202020204"/>
                <a:cs typeface="Arial" panose="020B0604020202020204"/>
              </a:rPr>
              <a:t>ws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50" dirty="0">
                <a:latin typeface="Arial" panose="020B0604020202020204"/>
                <a:cs typeface="Arial" panose="020B0604020202020204"/>
              </a:rPr>
              <a:t>private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55" dirty="0">
                <a:latin typeface="Arial" panose="020B0604020202020204"/>
                <a:cs typeface="Arial" panose="020B0604020202020204"/>
              </a:rPr>
              <a:t>and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45" dirty="0">
                <a:latin typeface="Arial" panose="020B0604020202020204"/>
                <a:cs typeface="Arial" panose="020B0604020202020204"/>
              </a:rPr>
              <a:t>channel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messages</a:t>
            </a:r>
            <a:endParaRPr sz="1050" dirty="0">
              <a:latin typeface="Arial" panose="020B0604020202020204"/>
              <a:cs typeface="Arial" panose="020B0604020202020204"/>
            </a:endParaRPr>
          </a:p>
          <a:p>
            <a:pPr marL="1153795">
              <a:lnSpc>
                <a:spcPct val="100000"/>
              </a:lnSpc>
              <a:spcBef>
                <a:spcPts val="6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Real-time,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75" dirty="0">
                <a:latin typeface="Arial" panose="020B0604020202020204"/>
                <a:cs typeface="Arial" panose="020B0604020202020204"/>
              </a:rPr>
              <a:t>no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45" dirty="0">
                <a:latin typeface="Arial" panose="020B0604020202020204"/>
                <a:cs typeface="Arial" panose="020B0604020202020204"/>
              </a:rPr>
              <a:t>backlog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45" dirty="0">
                <a:latin typeface="Arial" panose="020B0604020202020204"/>
                <a:cs typeface="Arial" panose="020B0604020202020204"/>
              </a:rPr>
              <a:t>delivery</a:t>
            </a:r>
            <a:endParaRPr sz="1050" dirty="0">
              <a:latin typeface="Arial" panose="020B0604020202020204"/>
              <a:cs typeface="Arial" panose="020B0604020202020204"/>
            </a:endParaRPr>
          </a:p>
          <a:p>
            <a:pPr marL="1125855" marR="1187450">
              <a:lnSpc>
                <a:spcPct val="117000"/>
              </a:lnSpc>
              <a:spcBef>
                <a:spcPts val="150"/>
              </a:spcBef>
            </a:pPr>
            <a:r>
              <a:rPr sz="1200" spc="-10" dirty="0">
                <a:latin typeface="Arial" panose="020B0604020202020204"/>
                <a:cs typeface="Arial" panose="020B0604020202020204"/>
              </a:rPr>
              <a:t>Uses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95" dirty="0">
                <a:latin typeface="Arial" panose="020B0604020202020204"/>
                <a:cs typeface="Arial" panose="020B0604020202020204"/>
              </a:rPr>
              <a:t>TCP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15" dirty="0">
                <a:latin typeface="Arial" panose="020B0604020202020204"/>
                <a:cs typeface="Arial" panose="020B0604020202020204"/>
              </a:rPr>
              <a:t>as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85" dirty="0">
                <a:latin typeface="Arial" panose="020B0604020202020204"/>
                <a:cs typeface="Arial" panose="020B0604020202020204"/>
              </a:rPr>
              <a:t>t</a:t>
            </a:r>
            <a:r>
              <a:rPr sz="1200" spc="75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50" dirty="0">
                <a:latin typeface="Arial" panose="020B0604020202020204"/>
                <a:cs typeface="Arial" panose="020B0604020202020204"/>
              </a:rPr>
              <a:t>ansport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0" dirty="0">
                <a:latin typeface="Arial" panose="020B0604020202020204"/>
                <a:cs typeface="Arial" panose="020B0604020202020204"/>
              </a:rPr>
              <a:t>(port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6667,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no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75" dirty="0">
                <a:latin typeface="Arial" panose="020B0604020202020204"/>
                <a:cs typeface="Arial" panose="020B0604020202020204"/>
              </a:rPr>
              <a:t>TLS)</a:t>
            </a:r>
            <a:r>
              <a:rPr sz="1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Defined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5" dirty="0">
                <a:latin typeface="Arial" panose="020B0604020202020204"/>
                <a:cs typeface="Arial" panose="020B0604020202020204"/>
              </a:rPr>
              <a:t>originally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5" dirty="0">
                <a:latin typeface="Arial" panose="020B0604020202020204"/>
                <a:cs typeface="Arial" panose="020B0604020202020204"/>
              </a:rPr>
              <a:t>in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trike="sngStrike" spc="-114" dirty="0">
                <a:latin typeface="Arial" panose="020B0604020202020204"/>
                <a:cs typeface="Arial" panose="020B0604020202020204"/>
              </a:rPr>
              <a:t>RFC</a:t>
            </a:r>
            <a:r>
              <a:rPr sz="1200" strike="sngStrike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trike="sngStrike" spc="10" dirty="0">
                <a:latin typeface="Arial" panose="020B0604020202020204"/>
                <a:cs typeface="Arial" panose="020B0604020202020204"/>
              </a:rPr>
              <a:t>1459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1153795">
              <a:lnSpc>
                <a:spcPct val="100000"/>
              </a:lnSpc>
              <a:spcBef>
                <a:spcPts val="27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30" dirty="0">
                <a:latin typeface="Arial" panose="020B0604020202020204"/>
                <a:cs typeface="Arial" panose="020B0604020202020204"/>
              </a:rPr>
              <a:t>Superseded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50" dirty="0">
                <a:latin typeface="Arial" panose="020B0604020202020204"/>
                <a:cs typeface="Arial" panose="020B0604020202020204"/>
              </a:rPr>
              <a:t>b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y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-70" dirty="0">
                <a:latin typeface="Arial" panose="020B0604020202020204"/>
                <a:cs typeface="Arial" panose="020B0604020202020204"/>
              </a:rPr>
              <a:t>RFCs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2810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80" dirty="0">
                <a:latin typeface="Arial" panose="020B0604020202020204"/>
                <a:cs typeface="Arial" panose="020B0604020202020204"/>
              </a:rPr>
              <a:t>to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2813</a:t>
            </a:r>
            <a:endParaRPr sz="1050" dirty="0">
              <a:latin typeface="Arial" panose="020B0604020202020204"/>
              <a:cs typeface="Arial" panose="020B0604020202020204"/>
            </a:endParaRPr>
          </a:p>
          <a:p>
            <a:pPr marL="1153795">
              <a:lnSpc>
                <a:spcPct val="100000"/>
              </a:lnSpc>
              <a:spcBef>
                <a:spcPts val="6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90" dirty="0">
                <a:latin typeface="Arial" panose="020B0604020202020204"/>
                <a:cs typeface="Arial" panose="020B0604020202020204"/>
              </a:rPr>
              <a:t>RFC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2810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110" dirty="0">
                <a:latin typeface="Arial" panose="020B0604020202020204"/>
                <a:cs typeface="Arial" panose="020B0604020202020204"/>
              </a:rPr>
              <a:t>p</a:t>
            </a:r>
            <a:r>
              <a:rPr sz="1050" spc="40" dirty="0">
                <a:latin typeface="Arial" panose="020B0604020202020204"/>
                <a:cs typeface="Arial" panose="020B0604020202020204"/>
              </a:rPr>
              <a:t>r</a:t>
            </a:r>
            <a:r>
              <a:rPr sz="1050" spc="35" dirty="0">
                <a:latin typeface="Arial" panose="020B0604020202020204"/>
                <a:cs typeface="Arial" panose="020B0604020202020204"/>
              </a:rPr>
              <a:t>esents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65" dirty="0">
                <a:latin typeface="Arial" panose="020B0604020202020204"/>
                <a:cs typeface="Arial" panose="020B0604020202020204"/>
              </a:rPr>
              <a:t>the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60" dirty="0">
                <a:latin typeface="Arial" panose="020B0604020202020204"/>
                <a:cs typeface="Arial" panose="020B0604020202020204"/>
              </a:rPr>
              <a:t>gene</a:t>
            </a:r>
            <a:r>
              <a:rPr sz="1050" spc="10" dirty="0">
                <a:latin typeface="Arial" panose="020B0604020202020204"/>
                <a:cs typeface="Arial" panose="020B0604020202020204"/>
              </a:rPr>
              <a:t>r</a:t>
            </a:r>
            <a:r>
              <a:rPr sz="1050" spc="30" dirty="0">
                <a:latin typeface="Arial" panose="020B0604020202020204"/>
                <a:cs typeface="Arial" panose="020B0604020202020204"/>
              </a:rPr>
              <a:t>al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70" dirty="0">
                <a:latin typeface="Arial" panose="020B0604020202020204"/>
                <a:cs typeface="Arial" panose="020B0604020202020204"/>
              </a:rPr>
              <a:t>a</a:t>
            </a:r>
            <a:r>
              <a:rPr sz="1050" spc="15" dirty="0">
                <a:latin typeface="Arial" panose="020B0604020202020204"/>
                <a:cs typeface="Arial" panose="020B0604020202020204"/>
              </a:rPr>
              <a:t>r</a:t>
            </a:r>
            <a:r>
              <a:rPr sz="1050" spc="55" dirty="0">
                <a:latin typeface="Arial" panose="020B0604020202020204"/>
                <a:cs typeface="Arial" panose="020B0604020202020204"/>
              </a:rPr>
              <a:t>chitectu</a:t>
            </a:r>
            <a:r>
              <a:rPr sz="1050" spc="20" dirty="0">
                <a:latin typeface="Arial" panose="020B0604020202020204"/>
                <a:cs typeface="Arial" panose="020B0604020202020204"/>
              </a:rPr>
              <a:t>re</a:t>
            </a:r>
            <a:endParaRPr sz="1050" dirty="0">
              <a:latin typeface="Arial" panose="020B0604020202020204"/>
              <a:cs typeface="Arial" panose="020B0604020202020204"/>
            </a:endParaRPr>
          </a:p>
          <a:p>
            <a:pPr marL="1153795">
              <a:lnSpc>
                <a:spcPct val="100000"/>
              </a:lnSpc>
              <a:spcBef>
                <a:spcPts val="6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-90" dirty="0">
                <a:latin typeface="Arial" panose="020B0604020202020204"/>
                <a:cs typeface="Arial" panose="020B0604020202020204"/>
              </a:rPr>
              <a:t>RFC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2812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40" dirty="0">
                <a:latin typeface="Arial" panose="020B0604020202020204"/>
                <a:cs typeface="Arial" panose="020B0604020202020204"/>
              </a:rPr>
              <a:t>defines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65" dirty="0">
                <a:latin typeface="Arial" panose="020B0604020202020204"/>
                <a:cs typeface="Arial" panose="020B0604020202020204"/>
              </a:rPr>
              <a:t>the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45" dirty="0">
                <a:latin typeface="Arial" panose="020B0604020202020204"/>
                <a:cs typeface="Arial" panose="020B0604020202020204"/>
              </a:rPr>
              <a:t>client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110" dirty="0">
                <a:latin typeface="Arial" panose="020B0604020202020204"/>
                <a:cs typeface="Arial" panose="020B0604020202020204"/>
              </a:rPr>
              <a:t>p</a:t>
            </a:r>
            <a:r>
              <a:rPr sz="1050" spc="40" dirty="0">
                <a:latin typeface="Arial" panose="020B0604020202020204"/>
                <a:cs typeface="Arial" panose="020B0604020202020204"/>
              </a:rPr>
              <a:t>r</a:t>
            </a:r>
            <a:r>
              <a:rPr sz="1050" spc="55" dirty="0">
                <a:latin typeface="Arial" panose="020B0604020202020204"/>
                <a:cs typeface="Arial" panose="020B0604020202020204"/>
              </a:rPr>
              <a:t>otocol</a:t>
            </a:r>
            <a:endParaRPr sz="10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9579" y="2788490"/>
            <a:ext cx="1438377" cy="9239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spc="3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Why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3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5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200" b="1" spc="1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200" b="1" spc="-1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otocol?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23520" marR="440055">
              <a:lnSpc>
                <a:spcPct val="125000"/>
              </a:lnSpc>
              <a:spcBef>
                <a:spcPts val="245"/>
              </a:spcBef>
            </a:pPr>
            <a:r>
              <a:rPr sz="1200" spc="-155" dirty="0">
                <a:latin typeface="Arial" panose="020B0604020202020204"/>
                <a:cs typeface="Arial" panose="020B0604020202020204"/>
              </a:rPr>
              <a:t>T</a:t>
            </a:r>
            <a:r>
              <a:rPr sz="1200" spc="-20" dirty="0">
                <a:latin typeface="Arial" panose="020B0604020202020204"/>
                <a:cs typeface="Arial" panose="020B0604020202020204"/>
              </a:rPr>
              <a:t>e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xt-based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Simple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0" dirty="0">
                <a:latin typeface="Arial" panose="020B0604020202020204"/>
                <a:cs typeface="Arial" panose="020B0604020202020204"/>
              </a:rPr>
              <a:t>Inte</a:t>
            </a:r>
            <a:r>
              <a:rPr sz="1200" spc="3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active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64070" y="2744413"/>
            <a:ext cx="1050364" cy="7042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23520" marR="12700" indent="-211455">
              <a:lnSpc>
                <a:spcPct val="124000"/>
              </a:lnSpc>
            </a:pPr>
            <a:r>
              <a:rPr sz="1200" b="1" spc="1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Real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Servers</a:t>
            </a:r>
            <a:r>
              <a:rPr sz="1200" b="1" spc="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Un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-10" dirty="0">
                <a:latin typeface="Arial" panose="020B0604020202020204"/>
                <a:cs typeface="Arial" panose="020B0604020202020204"/>
              </a:rPr>
              <a:t>ealIRCd</a:t>
            </a:r>
            <a:r>
              <a:rPr sz="1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minii</a:t>
            </a:r>
            <a:r>
              <a:rPr sz="1200" spc="3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cd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22749" y="2788490"/>
            <a:ext cx="1234527" cy="43119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spc="1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Real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1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Clients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23520">
              <a:lnSpc>
                <a:spcPct val="100000"/>
              </a:lnSpc>
              <a:spcBef>
                <a:spcPts val="330"/>
              </a:spcBef>
            </a:pPr>
            <a:r>
              <a:rPr sz="1200" spc="15" dirty="0">
                <a:latin typeface="Arial" panose="020B0604020202020204"/>
                <a:cs typeface="Arial" panose="020B0604020202020204"/>
              </a:rPr>
              <a:t>H</a:t>
            </a:r>
            <a:r>
              <a:rPr sz="1200" spc="-15" dirty="0">
                <a:latin typeface="Arial" panose="020B0604020202020204"/>
                <a:cs typeface="Arial" panose="020B0604020202020204"/>
              </a:rPr>
              <a:t>e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x</a:t>
            </a:r>
            <a:r>
              <a:rPr sz="1200" spc="35" dirty="0">
                <a:latin typeface="Arial" panose="020B0604020202020204"/>
                <a:cs typeface="Arial" panose="020B0604020202020204"/>
              </a:rPr>
              <a:t>chat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(f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-15" dirty="0">
                <a:latin typeface="Arial" panose="020B0604020202020204"/>
                <a:cs typeface="Arial" panose="020B0604020202020204"/>
              </a:rPr>
              <a:t>ee)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7209" y="3784285"/>
            <a:ext cx="184163" cy="1098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600" b="1" spc="5" dirty="0">
                <a:latin typeface="Arial" panose="020B0604020202020204"/>
                <a:cs typeface="Arial" panose="020B0604020202020204"/>
              </a:rPr>
              <a:t>2</a:t>
            </a:r>
            <a:r>
              <a:rPr sz="6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600" b="1" spc="80" dirty="0">
                <a:latin typeface="Arial" panose="020B0604020202020204"/>
                <a:cs typeface="Arial" panose="020B0604020202020204"/>
              </a:rPr>
              <a:t>/</a:t>
            </a:r>
            <a:r>
              <a:rPr sz="6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600" b="1" spc="5" dirty="0">
                <a:latin typeface="Arial" panose="020B0604020202020204"/>
                <a:cs typeface="Arial" panose="020B0604020202020204"/>
              </a:rPr>
              <a:t>7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05238" y="3801876"/>
            <a:ext cx="4688890" cy="97654"/>
          </a:xfrm>
          <a:custGeom>
            <a:avLst/>
            <a:gdLst/>
            <a:ahLst/>
            <a:cxnLst/>
            <a:rect l="l" t="t" r="r" b="b"/>
            <a:pathLst>
              <a:path w="4688558" h="97647">
                <a:moveTo>
                  <a:pt x="0" y="97647"/>
                </a:moveTo>
                <a:lnTo>
                  <a:pt x="4688558" y="97647"/>
                </a:lnTo>
                <a:lnTo>
                  <a:pt x="4688558" y="0"/>
                </a:lnTo>
                <a:lnTo>
                  <a:pt x="0" y="0"/>
                </a:lnTo>
                <a:lnTo>
                  <a:pt x="0" y="97647"/>
                </a:lnTo>
                <a:close/>
              </a:path>
            </a:pathLst>
          </a:custGeom>
          <a:solidFill>
            <a:srgbClr val="23237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042" y="3909310"/>
            <a:ext cx="5861086" cy="0"/>
          </a:xfrm>
          <a:custGeom>
            <a:avLst/>
            <a:gdLst/>
            <a:ahLst/>
            <a:cxnLst/>
            <a:rect l="l" t="t" r="r" b="b"/>
            <a:pathLst>
              <a:path w="5860671">
                <a:moveTo>
                  <a:pt x="0" y="0"/>
                </a:moveTo>
                <a:lnTo>
                  <a:pt x="5860671" y="0"/>
                </a:lnTo>
              </a:path>
            </a:pathLst>
          </a:custGeom>
          <a:ln w="20827">
            <a:solidFill>
              <a:srgbClr val="2D2D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9186" y="3938617"/>
            <a:ext cx="5274942" cy="0"/>
          </a:xfrm>
          <a:custGeom>
            <a:avLst/>
            <a:gdLst/>
            <a:ahLst/>
            <a:cxnLst/>
            <a:rect l="l" t="t" r="r" b="b"/>
            <a:pathLst>
              <a:path w="5274569">
                <a:moveTo>
                  <a:pt x="0" y="0"/>
                </a:moveTo>
                <a:lnTo>
                  <a:pt x="5274568" y="0"/>
                </a:lnTo>
              </a:path>
            </a:pathLst>
          </a:custGeom>
          <a:ln w="40323">
            <a:solidFill>
              <a:srgbClr val="4747B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/>
          <p:nvPr/>
        </p:nvSpPr>
        <p:spPr>
          <a:xfrm>
            <a:off x="5031045" y="34570"/>
            <a:ext cx="798887" cy="1098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600" b="1" spc="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6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600" b="1" spc="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oject</a:t>
            </a:r>
            <a:r>
              <a:rPr sz="6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Int</a:t>
            </a:r>
            <a:r>
              <a:rPr sz="600" b="1" spc="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600" b="1" spc="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oduction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292546" y="419221"/>
            <a:ext cx="5319136" cy="7925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3660">
              <a:lnSpc>
                <a:spcPct val="100000"/>
              </a:lnSpc>
              <a:tabLst>
                <a:tab pos="5305425" algn="l"/>
              </a:tabLst>
            </a:pPr>
            <a:r>
              <a:rPr sz="1700" b="1" u="sng" spc="4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u="sng" spc="-1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700" b="1" u="sng" spc="4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otocol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8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demonst</a:t>
            </a:r>
            <a:r>
              <a:rPr sz="1700" b="1" u="sng" spc="1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700" b="1" u="sng" spc="8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ation</a:t>
            </a:r>
            <a:r>
              <a:rPr sz="1700" b="1" u="sng" spc="56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	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>
              <a:lnSpc>
                <a:spcPts val="1100"/>
              </a:lnSpc>
              <a:spcBef>
                <a:spcPts val="65"/>
              </a:spcBef>
            </a:pPr>
            <a:endParaRPr sz="1100"/>
          </a:p>
          <a:p>
            <a:pPr marL="73660">
              <a:lnSpc>
                <a:spcPct val="100000"/>
              </a:lnSpc>
            </a:pPr>
            <a:r>
              <a:rPr sz="1200" b="1" spc="-20" dirty="0">
                <a:solidFill>
                  <a:srgbClr val="007F00"/>
                </a:solidFill>
                <a:latin typeface="Arial" panose="020B0604020202020204"/>
                <a:cs typeface="Arial" panose="020B0604020202020204"/>
              </a:rPr>
              <a:t>Session</a:t>
            </a:r>
            <a:r>
              <a:rPr sz="1200" b="1" spc="-25" dirty="0">
                <a:solidFill>
                  <a:srgbClr val="007F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20" dirty="0">
                <a:solidFill>
                  <a:srgbClr val="007F00"/>
                </a:solidFill>
                <a:latin typeface="Arial" panose="020B0604020202020204"/>
                <a:cs typeface="Arial" panose="020B0604020202020204"/>
              </a:rPr>
              <a:t>Example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135"/>
              </a:lnSpc>
            </a:pPr>
            <a:r>
              <a:rPr sz="1200" spc="-240" dirty="0">
                <a:latin typeface="MS UI Gothic" panose="020B0600070205080204" charset="-128"/>
                <a:cs typeface="MS UI Gothic" panose="020B0600070205080204" charset="-128"/>
              </a:rPr>
              <a:t>✞</a:t>
            </a:r>
            <a:endParaRPr sz="1200">
              <a:latin typeface="MS UI Gothic" panose="020B0600070205080204" charset="-128"/>
              <a:cs typeface="MS UI Gothic" panose="020B0600070205080204" charset="-128"/>
            </a:endParaRPr>
          </a:p>
        </p:txBody>
      </p:sp>
      <p:sp>
        <p:nvSpPr>
          <p:cNvPr id="7" name="object 6"/>
          <p:cNvSpPr txBox="1"/>
          <p:nvPr/>
        </p:nvSpPr>
        <p:spPr>
          <a:xfrm>
            <a:off x="1186822" y="3646385"/>
            <a:ext cx="4689172" cy="2584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82550" algn="r">
              <a:lnSpc>
                <a:spcPct val="100000"/>
              </a:lnSpc>
            </a:pPr>
            <a:r>
              <a:rPr sz="1200" spc="-965" dirty="0">
                <a:latin typeface="MS UI Gothic" panose="020B0600070205080204" charset="-128"/>
                <a:cs typeface="MS UI Gothic" panose="020B0600070205080204" charset="-128"/>
              </a:rPr>
              <a:t>✆</a:t>
            </a:r>
            <a:r>
              <a:rPr spc="359" baseline="-12000" dirty="0">
                <a:latin typeface="MS UI Gothic" panose="020B0600070205080204" charset="-128"/>
                <a:cs typeface="MS UI Gothic" panose="020B0600070205080204" charset="-128"/>
              </a:rPr>
              <a:t>✠</a:t>
            </a:r>
            <a:endParaRPr baseline="-12000">
              <a:latin typeface="MS UI Gothic" panose="020B0600070205080204" charset="-128"/>
              <a:cs typeface="MS UI Gothic" panose="020B0600070205080204" charset="-128"/>
            </a:endParaRPr>
          </a:p>
        </p:txBody>
      </p:sp>
      <p:sp>
        <p:nvSpPr>
          <p:cNvPr id="8" name="object 7"/>
          <p:cNvSpPr txBox="1"/>
          <p:nvPr/>
        </p:nvSpPr>
        <p:spPr>
          <a:xfrm>
            <a:off x="508793" y="3734751"/>
            <a:ext cx="184163" cy="1098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600" b="1" spc="5" dirty="0">
                <a:latin typeface="Arial" panose="020B0604020202020204"/>
                <a:cs typeface="Arial" panose="020B0604020202020204"/>
              </a:rPr>
              <a:t>3</a:t>
            </a:r>
            <a:r>
              <a:rPr sz="6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600" b="1" spc="80" dirty="0">
                <a:latin typeface="Arial" panose="020B0604020202020204"/>
                <a:cs typeface="Arial" panose="020B0604020202020204"/>
              </a:rPr>
              <a:t>/</a:t>
            </a:r>
            <a:r>
              <a:rPr sz="6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600" b="1" spc="5" dirty="0">
                <a:latin typeface="Arial" panose="020B0604020202020204"/>
                <a:cs typeface="Arial" panose="020B0604020202020204"/>
              </a:rPr>
              <a:t>7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9" name="object 5"/>
          <p:cNvGraphicFramePr>
            <a:graphicFrameLocks noGrp="1"/>
          </p:cNvGraphicFramePr>
          <p:nvPr/>
        </p:nvGraphicFramePr>
        <p:xfrm>
          <a:off x="4211" y="1116931"/>
          <a:ext cx="5911215" cy="2823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4625">
                <a:tc rowSpan="24">
                  <a:txBody>
                    <a:bodyPr/>
                    <a:lstStyle/>
                    <a:p>
                      <a:endParaRPr sz="1200">
                        <a:latin typeface="MS UI Gothic" panose="020B0600070205080204" charset="-128"/>
                        <a:cs typeface="MS UI Gothic" panose="020B0600070205080204" charset="-128"/>
                      </a:endParaRPr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&lt;&lt;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CAP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LS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302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rowSpan="22">
                  <a:txBody>
                    <a:bodyPr/>
                    <a:lstStyle/>
                    <a:p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&lt;&lt;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NICK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sleris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1125" baseline="7000" dirty="0">
                          <a:latin typeface="Arial" panose="020B0604020202020204"/>
                          <a:cs typeface="Arial" panose="020B0604020202020204"/>
                        </a:rPr>
                        <a:t>&lt;&lt;</a:t>
                      </a:r>
                      <a:r>
                        <a:rPr sz="1125" spc="-22" baseline="70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25" spc="0" baseline="7000" dirty="0">
                          <a:latin typeface="Arial" panose="020B0604020202020204"/>
                          <a:cs typeface="Arial" panose="020B0604020202020204"/>
                        </a:rPr>
                        <a:t>USER</a:t>
                      </a:r>
                      <a:r>
                        <a:rPr sz="1125" spc="-22" baseline="70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25" spc="0" baseline="7000" dirty="0">
                          <a:latin typeface="Arial" panose="020B0604020202020204"/>
                          <a:cs typeface="Arial" panose="020B0604020202020204"/>
                        </a:rPr>
                        <a:t>sleris</a:t>
                      </a:r>
                      <a:r>
                        <a:rPr sz="1125" spc="-22" baseline="70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25" spc="0" baseline="70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1125" spc="-22" baseline="70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*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25" spc="0" baseline="7000" dirty="0">
                          <a:latin typeface="Arial" panose="020B0604020202020204"/>
                          <a:cs typeface="Arial" panose="020B0604020202020204"/>
                        </a:rPr>
                        <a:t>:</a:t>
                      </a:r>
                      <a:r>
                        <a:rPr sz="1125" spc="-30" baseline="700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125" spc="0" baseline="7000" dirty="0">
                          <a:latin typeface="Arial" panose="020B0604020202020204"/>
                          <a:cs typeface="Arial" panose="020B0604020202020204"/>
                        </a:rPr>
                        <a:t>ealname</a:t>
                      </a:r>
                      <a:endParaRPr sz="1125" baseline="7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...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&gt;&gt;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:i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c.choopa.net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001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sleris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W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elcome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to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the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EFNet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Internet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Relay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Chat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Network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sleris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...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&gt;&gt;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:i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c.choopa.net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376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sleris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:End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of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/M</a:t>
                      </a:r>
                      <a:r>
                        <a:rPr sz="750" spc="-25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TD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command.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&lt;&lt;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PING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L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G1663639222750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&gt;&gt;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:i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c.choopa.net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PONG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c.choopa.net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:L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G1663639222750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&lt;&lt;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JOIN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#essai-test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&gt;&gt;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  <a:hlinkClick r:id="rId3"/>
                        </a:rPr>
                        <a:t>:sleris!~sleris@134.36.37.xx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  <a:hlinkClick r:id="rId3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JOIN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:#essai-test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&lt;&lt;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MODE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#essai-test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&lt;&lt;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WHO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#essai-test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&gt;&gt;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:i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c.choopa.net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MODE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#essai-test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+nt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&gt;&gt;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:i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c.choopa.net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353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sleris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#essai-test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:@sleris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&gt;&gt;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:i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c.choopa.net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366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sleris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#essai-test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:End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of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/NAMES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list.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...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&lt;&lt;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WHO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#essai-test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&lt;&lt;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PING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L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G1663639252750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&gt;&gt;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:i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c.choopa.net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352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sleris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#essai-test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~sleris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134.36.37.xx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c.choopa.net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sleris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H@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:0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ealname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&gt;&gt;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:i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c.choopa.net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315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sleris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#essai-test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:End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of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/WHO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list.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01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 panose="020B0604020202020204"/>
                          <a:cs typeface="Arial" panose="020B0604020202020204"/>
                        </a:rPr>
                        <a:t>&gt;&gt;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:i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c.choopa.net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PONG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c.choopa.net</a:t>
                      </a:r>
                      <a:r>
                        <a:rPr sz="75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:L</a:t>
                      </a:r>
                      <a:r>
                        <a:rPr sz="750" spc="-2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750" spc="0" dirty="0">
                          <a:latin typeface="Arial" panose="020B0604020202020204"/>
                          <a:cs typeface="Arial" panose="020B0604020202020204"/>
                        </a:rPr>
                        <a:t>G1663639252750</a:t>
                      </a:r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8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6098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B w="40323">
                      <a:solidFill>
                        <a:srgbClr val="4747BA"/>
                      </a:solidFill>
                      <a:prstDash val="solid"/>
                    </a:lnB>
                    <a:solidFill>
                      <a:srgbClr val="23237C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R w="6096">
                      <a:solidFill>
                        <a:srgbClr val="000000"/>
                      </a:solidFill>
                      <a:prstDash val="solid"/>
                    </a:lnR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7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T w="6095">
                      <a:solidFill>
                        <a:srgbClr val="000000"/>
                      </a:solidFill>
                      <a:prstDash val="solid"/>
                    </a:lnT>
                    <a:lnB w="20827">
                      <a:solidFill>
                        <a:srgbClr val="2D2DA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B w="40323">
                      <a:solidFill>
                        <a:srgbClr val="4747BA"/>
                      </a:solidFill>
                      <a:prstDash val="solid"/>
                    </a:lnB>
                    <a:solidFill>
                      <a:srgbClr val="23237C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/>
          <p:nvPr/>
        </p:nvSpPr>
        <p:spPr>
          <a:xfrm>
            <a:off x="5049461" y="76483"/>
            <a:ext cx="798887" cy="1098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600" b="1" spc="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6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600" b="1" spc="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oject</a:t>
            </a:r>
            <a:r>
              <a:rPr sz="6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Int</a:t>
            </a:r>
            <a:r>
              <a:rPr sz="600" b="1" spc="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600" b="1" spc="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oduction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371996" y="461134"/>
            <a:ext cx="5258172" cy="2876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5244465" algn="l"/>
              </a:tabLst>
            </a:pPr>
            <a:r>
              <a:rPr sz="1700" b="1" u="sng" spc="4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10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u="sng" spc="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700" b="1" u="sng" spc="5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oject,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9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making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114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two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8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softwa</a:t>
            </a:r>
            <a:r>
              <a:rPr sz="1700" b="1" u="sng" spc="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700" b="1" u="sng" spc="7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u="sng" spc="56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	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353" y="902866"/>
            <a:ext cx="2496362" cy="21604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spc="-4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simple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4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bot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ts val="600"/>
              </a:lnSpc>
              <a:spcBef>
                <a:spcPts val="10"/>
              </a:spcBef>
            </a:pPr>
            <a:endParaRPr sz="600" dirty="0"/>
          </a:p>
          <a:p>
            <a:pPr marL="223520" marR="254000">
              <a:lnSpc>
                <a:spcPct val="100000"/>
              </a:lnSpc>
            </a:pPr>
            <a:r>
              <a:rPr sz="1200" spc="15" dirty="0">
                <a:latin typeface="Arial" panose="020B0604020202020204"/>
                <a:cs typeface="Arial" panose="020B0604020202020204"/>
              </a:rPr>
              <a:t>Able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5" dirty="0">
                <a:latin typeface="Arial" panose="020B0604020202020204"/>
                <a:cs typeface="Arial" panose="020B0604020202020204"/>
              </a:rPr>
              <a:t>to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5" dirty="0">
                <a:latin typeface="Arial" panose="020B0604020202020204"/>
                <a:cs typeface="Arial" panose="020B0604020202020204"/>
              </a:rPr>
              <a:t>connect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5" dirty="0">
                <a:latin typeface="Arial" panose="020B0604020202020204"/>
                <a:cs typeface="Arial" panose="020B0604020202020204"/>
              </a:rPr>
              <a:t>to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a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eal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55" dirty="0">
                <a:latin typeface="Arial" panose="020B0604020202020204"/>
                <a:cs typeface="Arial" panose="020B0604020202020204"/>
              </a:rPr>
              <a:t>IRC</a:t>
            </a:r>
            <a:r>
              <a:rPr sz="1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server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0" dirty="0">
                <a:latin typeface="Arial" panose="020B0604020202020204"/>
                <a:cs typeface="Arial" panose="020B0604020202020204"/>
              </a:rPr>
              <a:t>(minii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0" dirty="0">
                <a:latin typeface="Arial" panose="020B0604020202020204"/>
                <a:cs typeface="Arial" panose="020B0604020202020204"/>
              </a:rPr>
              <a:t>cd)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5" dirty="0">
                <a:latin typeface="Arial" panose="020B0604020202020204"/>
                <a:cs typeface="Arial" panose="020B0604020202020204"/>
              </a:rPr>
              <a:t>and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yours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223520" marR="163195">
              <a:lnSpc>
                <a:spcPct val="117000"/>
              </a:lnSpc>
              <a:spcBef>
                <a:spcPts val="120"/>
              </a:spcBef>
            </a:pPr>
            <a:r>
              <a:rPr sz="1200" spc="15" dirty="0">
                <a:latin typeface="Arial" panose="020B0604020202020204"/>
                <a:cs typeface="Arial" panose="020B0604020202020204"/>
              </a:rPr>
              <a:t>Able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5" dirty="0">
                <a:latin typeface="Arial" panose="020B0604020202020204"/>
                <a:cs typeface="Arial" panose="020B0604020202020204"/>
              </a:rPr>
              <a:t>to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0" dirty="0">
                <a:latin typeface="Arial" panose="020B0604020202020204"/>
                <a:cs typeface="Arial" panose="020B0604020202020204"/>
              </a:rPr>
              <a:t>join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a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5" dirty="0">
                <a:latin typeface="Arial" panose="020B0604020202020204"/>
                <a:cs typeface="Arial" panose="020B0604020202020204"/>
              </a:rPr>
              <a:t>channel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(#test)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 Respond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5" dirty="0">
                <a:latin typeface="Arial" panose="020B0604020202020204"/>
                <a:cs typeface="Arial" panose="020B0604020202020204"/>
              </a:rPr>
              <a:t>to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5" dirty="0">
                <a:latin typeface="Arial" panose="020B0604020202020204"/>
                <a:cs typeface="Arial" panose="020B0604020202020204"/>
              </a:rPr>
              <a:t>private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messages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251460">
              <a:lnSpc>
                <a:spcPct val="100000"/>
              </a:lnSpc>
              <a:spcBef>
                <a:spcPts val="27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45" dirty="0">
                <a:latin typeface="Arial" panose="020B0604020202020204"/>
                <a:cs typeface="Arial" panose="020B0604020202020204"/>
              </a:rPr>
              <a:t>Random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55" dirty="0">
                <a:latin typeface="Arial" panose="020B0604020202020204"/>
                <a:cs typeface="Arial" panose="020B0604020202020204"/>
              </a:rPr>
              <a:t>nonsense/fun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45" dirty="0">
                <a:latin typeface="Arial" panose="020B0604020202020204"/>
                <a:cs typeface="Arial" panose="020B0604020202020204"/>
              </a:rPr>
              <a:t>fact</a:t>
            </a:r>
            <a:endParaRPr sz="1050" dirty="0">
              <a:latin typeface="Arial" panose="020B0604020202020204"/>
              <a:cs typeface="Arial" panose="020B0604020202020204"/>
            </a:endParaRPr>
          </a:p>
          <a:p>
            <a:pPr marL="223520">
              <a:lnSpc>
                <a:spcPct val="100000"/>
              </a:lnSpc>
              <a:spcBef>
                <a:spcPts val="270"/>
              </a:spcBef>
            </a:pPr>
            <a:r>
              <a:rPr sz="1200" spc="20" dirty="0">
                <a:latin typeface="Arial" panose="020B0604020202020204"/>
                <a:cs typeface="Arial" panose="020B0604020202020204"/>
              </a:rPr>
              <a:t>Respond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5" dirty="0">
                <a:latin typeface="Arial" panose="020B0604020202020204"/>
                <a:cs typeface="Arial" panose="020B0604020202020204"/>
              </a:rPr>
              <a:t>to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5" dirty="0">
                <a:latin typeface="Arial" panose="020B0604020202020204"/>
                <a:cs typeface="Arial" panose="020B0604020202020204"/>
              </a:rPr>
              <a:t>channel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0" dirty="0">
                <a:latin typeface="Arial" panose="020B0604020202020204"/>
                <a:cs typeface="Arial" panose="020B0604020202020204"/>
              </a:rPr>
              <a:t>commands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251460">
              <a:lnSpc>
                <a:spcPct val="100000"/>
              </a:lnSpc>
              <a:spcBef>
                <a:spcPts val="27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40" dirty="0">
                <a:latin typeface="Arial" panose="020B0604020202020204"/>
                <a:cs typeface="Arial" panose="020B0604020202020204"/>
              </a:rPr>
              <a:t>!hello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55" dirty="0">
                <a:latin typeface="Arial" panose="020B0604020202020204"/>
                <a:cs typeface="Arial" panose="020B0604020202020204"/>
              </a:rPr>
              <a:t>and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!slap</a:t>
            </a:r>
            <a:endParaRPr sz="1050" dirty="0">
              <a:latin typeface="Arial" panose="020B0604020202020204"/>
              <a:cs typeface="Arial" panose="020B0604020202020204"/>
            </a:endParaRPr>
          </a:p>
          <a:p>
            <a:pPr marL="223520" marR="363220">
              <a:lnSpc>
                <a:spcPct val="125000"/>
              </a:lnSpc>
              <a:spcBef>
                <a:spcPts val="30"/>
              </a:spcBef>
            </a:pPr>
            <a:r>
              <a:rPr sz="1200" spc="20" dirty="0">
                <a:latin typeface="Arial" panose="020B0604020202020204"/>
                <a:cs typeface="Arial" panose="020B0604020202020204"/>
              </a:rPr>
              <a:t>One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featu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of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5" dirty="0">
                <a:latin typeface="Arial" panose="020B0604020202020204"/>
                <a:cs typeface="Arial" panose="020B0604020202020204"/>
              </a:rPr>
              <a:t>your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choice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5" dirty="0">
                <a:latin typeface="Arial" panose="020B0604020202020204"/>
                <a:cs typeface="Arial" panose="020B0604020202020204"/>
              </a:rPr>
              <a:t>Must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80" dirty="0">
                <a:latin typeface="Arial" panose="020B0604020202020204"/>
                <a:cs typeface="Arial" panose="020B0604020202020204"/>
              </a:rPr>
              <a:t>run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on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Wind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o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ws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0" dirty="0">
                <a:latin typeface="Arial" panose="020B0604020202020204"/>
                <a:cs typeface="Arial" panose="020B0604020202020204"/>
              </a:rPr>
              <a:t>VM</a:t>
            </a:r>
            <a:endParaRPr sz="1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6353" y="3224636"/>
            <a:ext cx="2010552" cy="46675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spc="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Common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4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requi</a:t>
            </a:r>
            <a:r>
              <a:rPr sz="1200" b="1" spc="1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200" b="1" spc="7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ement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>
              <a:lnSpc>
                <a:spcPts val="600"/>
              </a:lnSpc>
              <a:spcBef>
                <a:spcPts val="10"/>
              </a:spcBef>
            </a:pPr>
            <a:endParaRPr sz="600"/>
          </a:p>
          <a:p>
            <a:pPr marL="223520">
              <a:lnSpc>
                <a:spcPct val="100000"/>
              </a:lnSpc>
            </a:pPr>
            <a:r>
              <a:rPr sz="1200" spc="-10" dirty="0">
                <a:latin typeface="Arial" panose="020B0604020202020204"/>
                <a:cs typeface="Arial" panose="020B0604020202020204"/>
              </a:rPr>
              <a:t>Use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IPv6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0" dirty="0">
                <a:latin typeface="Arial" panose="020B0604020202020204"/>
                <a:cs typeface="Arial" panose="020B0604020202020204"/>
              </a:rPr>
              <a:t>for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0" dirty="0">
                <a:latin typeface="Arial" panose="020B0604020202020204"/>
                <a:cs typeface="Arial" panose="020B0604020202020204"/>
              </a:rPr>
              <a:t>connections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19705" y="902866"/>
            <a:ext cx="2298863" cy="25370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spc="-4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basic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3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server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23520" marR="12700">
              <a:lnSpc>
                <a:spcPct val="100000"/>
              </a:lnSpc>
              <a:spcBef>
                <a:spcPts val="330"/>
              </a:spcBef>
            </a:pPr>
            <a:r>
              <a:rPr sz="1200" spc="-20" dirty="0">
                <a:latin typeface="Arial" panose="020B0604020202020204"/>
                <a:cs typeface="Arial" panose="020B0604020202020204"/>
              </a:rPr>
              <a:t>Real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clients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can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5" dirty="0">
                <a:latin typeface="Arial" panose="020B0604020202020204"/>
                <a:cs typeface="Arial" panose="020B0604020202020204"/>
              </a:rPr>
              <a:t>connect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(test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with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h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e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x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chat)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23520" marR="143510">
              <a:lnSpc>
                <a:spcPct val="125000"/>
              </a:lnSpc>
            </a:pPr>
            <a:r>
              <a:rPr sz="1200" spc="15" dirty="0">
                <a:latin typeface="Arial" panose="020B0604020202020204"/>
                <a:cs typeface="Arial" panose="020B0604020202020204"/>
              </a:rPr>
              <a:t>Clients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can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0" dirty="0">
                <a:latin typeface="Arial" panose="020B0604020202020204"/>
                <a:cs typeface="Arial" panose="020B0604020202020204"/>
              </a:rPr>
              <a:t>join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channels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Clients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can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5" dirty="0">
                <a:latin typeface="Arial" panose="020B0604020202020204"/>
                <a:cs typeface="Arial" panose="020B0604020202020204"/>
              </a:rPr>
              <a:t>talk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5" dirty="0">
                <a:latin typeface="Arial" panose="020B0604020202020204"/>
                <a:cs typeface="Arial" panose="020B0604020202020204"/>
              </a:rPr>
              <a:t>in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channels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23520">
              <a:lnSpc>
                <a:spcPct val="100000"/>
              </a:lnSpc>
            </a:pPr>
            <a:r>
              <a:rPr sz="1200" spc="65" dirty="0">
                <a:latin typeface="Arial" panose="020B0604020202020204"/>
                <a:cs typeface="Arial" panose="020B0604020202020204"/>
              </a:rPr>
              <a:t>and/or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5" dirty="0">
                <a:latin typeface="Arial" panose="020B0604020202020204"/>
                <a:cs typeface="Arial" panose="020B0604020202020204"/>
              </a:rPr>
              <a:t>private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messages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23520" marR="199390">
              <a:lnSpc>
                <a:spcPct val="117000"/>
              </a:lnSpc>
              <a:spcBef>
                <a:spcPts val="120"/>
              </a:spcBef>
            </a:pPr>
            <a:r>
              <a:rPr sz="1200" spc="15" dirty="0">
                <a:latin typeface="Arial" panose="020B0604020202020204"/>
                <a:cs typeface="Arial" panose="020B0604020202020204"/>
              </a:rPr>
              <a:t>NO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server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0" dirty="0">
                <a:latin typeface="Arial" panose="020B0604020202020204"/>
                <a:cs typeface="Arial" panose="020B0604020202020204"/>
              </a:rPr>
              <a:t>connections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NO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5" dirty="0">
                <a:latin typeface="Arial" panose="020B0604020202020204"/>
                <a:cs typeface="Arial" panose="020B0604020202020204"/>
              </a:rPr>
              <a:t>channel/server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modes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51460">
              <a:lnSpc>
                <a:spcPct val="100000"/>
              </a:lnSpc>
              <a:spcBef>
                <a:spcPts val="27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Everyone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15" dirty="0">
                <a:latin typeface="Arial" panose="020B0604020202020204"/>
                <a:cs typeface="Arial" panose="020B0604020202020204"/>
              </a:rPr>
              <a:t>is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15" dirty="0">
                <a:latin typeface="Arial" panose="020B0604020202020204"/>
                <a:cs typeface="Arial" panose="020B0604020202020204"/>
              </a:rPr>
              <a:t>a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50" dirty="0">
                <a:latin typeface="Arial" panose="020B0604020202020204"/>
                <a:cs typeface="Arial" panose="020B0604020202020204"/>
              </a:rPr>
              <a:t>simple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45" dirty="0">
                <a:latin typeface="Arial" panose="020B0604020202020204"/>
                <a:cs typeface="Arial" panose="020B0604020202020204"/>
              </a:rPr>
              <a:t>user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223520" marR="33655">
              <a:lnSpc>
                <a:spcPct val="100000"/>
              </a:lnSpc>
              <a:spcBef>
                <a:spcPts val="390"/>
              </a:spcBef>
            </a:pPr>
            <a:r>
              <a:rPr sz="1200" spc="15" dirty="0">
                <a:latin typeface="Arial" panose="020B0604020202020204"/>
                <a:cs typeface="Arial" panose="020B0604020202020204"/>
              </a:rPr>
              <a:t>NO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20" dirty="0">
                <a:latin typeface="Arial" panose="020B0604020202020204"/>
                <a:cs typeface="Arial" panose="020B0604020202020204"/>
              </a:rPr>
              <a:t>e</a:t>
            </a:r>
            <a:r>
              <a:rPr sz="1200" spc="75" dirty="0">
                <a:latin typeface="Arial" panose="020B0604020202020204"/>
                <a:cs typeface="Arial" panose="020B0604020202020204"/>
              </a:rPr>
              <a:t>xt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a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featu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-15" dirty="0">
                <a:latin typeface="Arial" panose="020B0604020202020204"/>
                <a:cs typeface="Arial" panose="020B0604020202020204"/>
              </a:rPr>
              <a:t>es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latin typeface="Arial" panose="020B0604020202020204"/>
                <a:cs typeface="Arial" panose="020B0604020202020204"/>
              </a:rPr>
              <a:t>(Kick,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5" dirty="0">
                <a:latin typeface="Arial" panose="020B0604020202020204"/>
                <a:cs typeface="Arial" panose="020B0604020202020204"/>
              </a:rPr>
              <a:t>ban,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55" dirty="0">
                <a:latin typeface="Arial" panose="020B0604020202020204"/>
                <a:cs typeface="Arial" panose="020B0604020202020204"/>
              </a:rPr>
              <a:t>D</a:t>
            </a:r>
            <a:r>
              <a:rPr sz="1200" spc="-80" dirty="0">
                <a:latin typeface="Arial" panose="020B0604020202020204"/>
                <a:cs typeface="Arial" panose="020B0604020202020204"/>
              </a:rPr>
              <a:t>C</a:t>
            </a:r>
            <a:r>
              <a:rPr sz="1200" spc="-60" dirty="0">
                <a:latin typeface="Arial" panose="020B0604020202020204"/>
                <a:cs typeface="Arial" panose="020B0604020202020204"/>
              </a:rPr>
              <a:t>C,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15" dirty="0">
                <a:latin typeface="Arial" panose="020B0604020202020204"/>
                <a:cs typeface="Arial" panose="020B0604020202020204"/>
              </a:rPr>
              <a:t>.</a:t>
            </a:r>
            <a:r>
              <a:rPr sz="1200" spc="-18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15" dirty="0">
                <a:latin typeface="Arial" panose="020B0604020202020204"/>
                <a:cs typeface="Arial" panose="020B0604020202020204"/>
              </a:rPr>
              <a:t>.</a:t>
            </a:r>
            <a:r>
              <a:rPr sz="1200" spc="-18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15" dirty="0">
                <a:latin typeface="Arial" panose="020B0604020202020204"/>
                <a:cs typeface="Arial" panose="020B0604020202020204"/>
              </a:rPr>
              <a:t>.</a:t>
            </a:r>
            <a:r>
              <a:rPr sz="1200" spc="-18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5" dirty="0">
                <a:latin typeface="Arial" panose="020B0604020202020204"/>
                <a:cs typeface="Arial" panose="020B0604020202020204"/>
              </a:rPr>
              <a:t>not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equi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ed)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23520">
              <a:lnSpc>
                <a:spcPct val="100000"/>
              </a:lnSpc>
              <a:spcBef>
                <a:spcPts val="360"/>
              </a:spcBef>
            </a:pPr>
            <a:r>
              <a:rPr sz="1200" spc="55" dirty="0">
                <a:latin typeface="Arial" panose="020B0604020202020204"/>
                <a:cs typeface="Arial" panose="020B0604020202020204"/>
              </a:rPr>
              <a:t>Must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80" dirty="0">
                <a:latin typeface="Arial" panose="020B0604020202020204"/>
                <a:cs typeface="Arial" panose="020B0604020202020204"/>
              </a:rPr>
              <a:t>run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on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0" dirty="0">
                <a:latin typeface="Arial" panose="020B0604020202020204"/>
                <a:cs typeface="Arial" panose="020B0604020202020204"/>
              </a:rPr>
              <a:t>GNU/Linux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0" dirty="0">
                <a:latin typeface="Arial" panose="020B0604020202020204"/>
                <a:cs typeface="Arial" panose="020B0604020202020204"/>
              </a:rPr>
              <a:t>VM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7209" y="3776664"/>
            <a:ext cx="184163" cy="1098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600" b="1" spc="5" dirty="0">
                <a:latin typeface="Arial" panose="020B0604020202020204"/>
                <a:cs typeface="Arial" panose="020B0604020202020204"/>
              </a:rPr>
              <a:t>4</a:t>
            </a:r>
            <a:r>
              <a:rPr sz="6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600" b="1" spc="80" dirty="0">
                <a:latin typeface="Arial" panose="020B0604020202020204"/>
                <a:cs typeface="Arial" panose="020B0604020202020204"/>
              </a:rPr>
              <a:t>/</a:t>
            </a:r>
            <a:r>
              <a:rPr sz="6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600" b="1" spc="5" dirty="0">
                <a:latin typeface="Arial" panose="020B0604020202020204"/>
                <a:cs typeface="Arial" panose="020B0604020202020204"/>
              </a:rPr>
              <a:t>7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05238" y="3794256"/>
            <a:ext cx="4688890" cy="97654"/>
          </a:xfrm>
          <a:custGeom>
            <a:avLst/>
            <a:gdLst/>
            <a:ahLst/>
            <a:cxnLst/>
            <a:rect l="l" t="t" r="r" b="b"/>
            <a:pathLst>
              <a:path w="4688558" h="97647">
                <a:moveTo>
                  <a:pt x="0" y="97647"/>
                </a:moveTo>
                <a:lnTo>
                  <a:pt x="4688558" y="97647"/>
                </a:lnTo>
                <a:lnTo>
                  <a:pt x="4688558" y="0"/>
                </a:lnTo>
                <a:lnTo>
                  <a:pt x="0" y="0"/>
                </a:lnTo>
                <a:lnTo>
                  <a:pt x="0" y="97647"/>
                </a:lnTo>
                <a:close/>
              </a:path>
            </a:pathLst>
          </a:custGeom>
          <a:solidFill>
            <a:srgbClr val="23237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042" y="3901689"/>
            <a:ext cx="5861086" cy="0"/>
          </a:xfrm>
          <a:custGeom>
            <a:avLst/>
            <a:gdLst/>
            <a:ahLst/>
            <a:cxnLst/>
            <a:rect l="l" t="t" r="r" b="b"/>
            <a:pathLst>
              <a:path w="5860671">
                <a:moveTo>
                  <a:pt x="0" y="0"/>
                </a:moveTo>
                <a:lnTo>
                  <a:pt x="5860671" y="0"/>
                </a:lnTo>
              </a:path>
            </a:pathLst>
          </a:custGeom>
          <a:ln w="20827">
            <a:solidFill>
              <a:srgbClr val="2D2D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9186" y="3930996"/>
            <a:ext cx="5274942" cy="0"/>
          </a:xfrm>
          <a:custGeom>
            <a:avLst/>
            <a:gdLst/>
            <a:ahLst/>
            <a:cxnLst/>
            <a:rect l="l" t="t" r="r" b="b"/>
            <a:pathLst>
              <a:path w="5274569">
                <a:moveTo>
                  <a:pt x="0" y="0"/>
                </a:moveTo>
                <a:lnTo>
                  <a:pt x="5274568" y="0"/>
                </a:lnTo>
              </a:path>
            </a:pathLst>
          </a:custGeom>
          <a:ln w="40323">
            <a:solidFill>
              <a:srgbClr val="4747B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/>
          <p:nvPr/>
        </p:nvSpPr>
        <p:spPr>
          <a:xfrm>
            <a:off x="5061527" y="87914"/>
            <a:ext cx="798887" cy="1098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600" b="1" spc="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6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600" b="1" spc="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oject</a:t>
            </a:r>
            <a:r>
              <a:rPr sz="6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Int</a:t>
            </a:r>
            <a:r>
              <a:rPr sz="600" b="1" spc="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600" b="1" spc="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oduction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384062" y="472564"/>
            <a:ext cx="5258172" cy="2876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5244465" algn="l"/>
              </a:tabLst>
            </a:pPr>
            <a:r>
              <a:rPr sz="1700" b="1" u="sng" spc="6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1700" b="1" u="sng" spc="1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1700" b="1" u="sng" spc="14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5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7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will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5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-1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assessed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2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(35%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6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6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module)</a:t>
            </a:r>
            <a:r>
              <a:rPr sz="1700" b="1" u="sng" spc="56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	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834" y="881934"/>
            <a:ext cx="1404719" cy="69537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200" b="1" spc="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oup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200" b="1" spc="4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ork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23520" marR="12700">
              <a:lnSpc>
                <a:spcPct val="125000"/>
              </a:lnSpc>
              <a:spcBef>
                <a:spcPts val="245"/>
              </a:spcBef>
            </a:pPr>
            <a:r>
              <a:rPr sz="1200" spc="10" dirty="0">
                <a:latin typeface="Arial" panose="020B0604020202020204"/>
                <a:cs typeface="Arial" panose="020B0604020202020204"/>
              </a:rPr>
              <a:t>5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5" dirty="0">
                <a:latin typeface="Arial" panose="020B0604020202020204"/>
                <a:cs typeface="Arial" panose="020B0604020202020204"/>
              </a:rPr>
              <a:t>students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5" dirty="0">
                <a:latin typeface="Arial" panose="020B0604020202020204"/>
                <a:cs typeface="Arial" panose="020B0604020202020204"/>
              </a:rPr>
              <a:t>Make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5" dirty="0">
                <a:latin typeface="Arial" panose="020B0604020202020204"/>
                <a:cs typeface="Arial" panose="020B0604020202020204"/>
              </a:rPr>
              <a:t>your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team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8622" y="881934"/>
            <a:ext cx="3499733" cy="66044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Self-Assessment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4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Peer-R</a:t>
            </a:r>
            <a:r>
              <a:rPr sz="1200" b="1" spc="-2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200" b="1" spc="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vi</a:t>
            </a:r>
            <a:r>
              <a:rPr sz="1200" b="1" spc="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200" b="1" spc="9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w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223520" marR="12700">
              <a:lnSpc>
                <a:spcPts val="1800"/>
              </a:lnSpc>
              <a:spcBef>
                <a:spcPts val="90"/>
              </a:spcBef>
            </a:pPr>
            <a:r>
              <a:rPr sz="1200" spc="25" dirty="0">
                <a:latin typeface="Arial" panose="020B0604020202020204"/>
                <a:cs typeface="Arial" panose="020B0604020202020204"/>
              </a:rPr>
              <a:t>Ove</a:t>
            </a:r>
            <a:r>
              <a:rPr sz="1200" spc="-1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all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00" dirty="0">
                <a:latin typeface="Arial" panose="020B0604020202020204"/>
                <a:cs typeface="Arial" panose="020B0604020202020204"/>
              </a:rPr>
              <a:t>g</a:t>
            </a:r>
            <a:r>
              <a:rPr sz="1200" spc="3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oup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mark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15" dirty="0">
                <a:latin typeface="Arial" panose="020B0604020202020204"/>
                <a:cs typeface="Arial" panose="020B0604020202020204"/>
              </a:rPr>
              <a:t>+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modulation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5" dirty="0">
                <a:latin typeface="Arial" panose="020B0604020202020204"/>
                <a:cs typeface="Arial" panose="020B0604020202020204"/>
              </a:rPr>
              <a:t>per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5" dirty="0">
                <a:latin typeface="Arial" panose="020B0604020202020204"/>
                <a:cs typeface="Arial" panose="020B0604020202020204"/>
              </a:rPr>
              <a:t>student Mid-p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35" dirty="0">
                <a:latin typeface="Arial" panose="020B0604020202020204"/>
                <a:cs typeface="Arial" panose="020B0604020202020204"/>
              </a:rPr>
              <a:t>oject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5" dirty="0">
                <a:latin typeface="Arial" panose="020B0604020202020204"/>
                <a:cs typeface="Arial" panose="020B0604020202020204"/>
              </a:rPr>
              <a:t>submission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(end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of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5" dirty="0">
                <a:latin typeface="Arial" panose="020B0604020202020204"/>
                <a:cs typeface="Arial" panose="020B0604020202020204"/>
              </a:rPr>
              <a:t>week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1200" spc="0" dirty="0">
                <a:latin typeface="Arial" panose="020B0604020202020204"/>
                <a:cs typeface="Arial" panose="020B0604020202020204"/>
              </a:rPr>
              <a:t>5</a:t>
            </a:r>
            <a:r>
              <a:rPr sz="1200" spc="0" dirty="0">
                <a:latin typeface="Arial" panose="020B0604020202020204"/>
                <a:cs typeface="Arial" panose="020B0604020202020204"/>
              </a:rPr>
              <a:t>,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15%)</a:t>
            </a:r>
            <a:endParaRPr sz="1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9830" y="1676606"/>
            <a:ext cx="3919497" cy="20600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spc="1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Final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3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Delive</a:t>
            </a:r>
            <a:r>
              <a:rPr sz="1200" b="1" spc="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200" b="1" spc="1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ables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23520">
              <a:lnSpc>
                <a:spcPts val="1295"/>
              </a:lnSpc>
            </a:pPr>
            <a:r>
              <a:rPr sz="1200" spc="15" dirty="0">
                <a:latin typeface="Arial" panose="020B0604020202020204"/>
                <a:cs typeface="Arial" panose="020B0604020202020204"/>
              </a:rPr>
              <a:t>G</a:t>
            </a:r>
            <a:r>
              <a:rPr sz="1200" spc="-2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oup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self-assessment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sheet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51460">
              <a:lnSpc>
                <a:spcPct val="100000"/>
              </a:lnSpc>
              <a:spcBef>
                <a:spcPts val="27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45" dirty="0">
                <a:latin typeface="Arial" panose="020B0604020202020204"/>
                <a:cs typeface="Arial" panose="020B0604020202020204"/>
              </a:rPr>
              <a:t>What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15" dirty="0">
                <a:latin typeface="Arial" panose="020B0604020202020204"/>
                <a:cs typeface="Arial" panose="020B0604020202020204"/>
              </a:rPr>
              <a:t>is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70" dirty="0">
                <a:latin typeface="Arial" panose="020B0604020202020204"/>
                <a:cs typeface="Arial" panose="020B0604020202020204"/>
              </a:rPr>
              <a:t>working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75" dirty="0">
                <a:latin typeface="Arial" panose="020B0604020202020204"/>
                <a:cs typeface="Arial" panose="020B0604020202020204"/>
              </a:rPr>
              <a:t>or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80" dirty="0">
                <a:latin typeface="Arial" panose="020B0604020202020204"/>
                <a:cs typeface="Arial" panose="020B0604020202020204"/>
              </a:rPr>
              <a:t>not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40" dirty="0">
                <a:latin typeface="Arial" panose="020B0604020202020204"/>
                <a:cs typeface="Arial" panose="020B0604020202020204"/>
              </a:rPr>
              <a:t>(foll</a:t>
            </a:r>
            <a:r>
              <a:rPr sz="1050" spc="45" dirty="0">
                <a:latin typeface="Arial" panose="020B0604020202020204"/>
                <a:cs typeface="Arial" panose="020B0604020202020204"/>
              </a:rPr>
              <a:t>o</a:t>
            </a:r>
            <a:r>
              <a:rPr sz="1050" spc="75" dirty="0">
                <a:latin typeface="Arial" panose="020B0604020202020204"/>
                <a:cs typeface="Arial" panose="020B0604020202020204"/>
              </a:rPr>
              <a:t>wing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110" dirty="0">
                <a:latin typeface="Arial" panose="020B0604020202020204"/>
                <a:cs typeface="Arial" panose="020B0604020202020204"/>
              </a:rPr>
              <a:t>p</a:t>
            </a:r>
            <a:r>
              <a:rPr sz="1050" spc="40" dirty="0">
                <a:latin typeface="Arial" panose="020B0604020202020204"/>
                <a:cs typeface="Arial" panose="020B0604020202020204"/>
              </a:rPr>
              <a:t>r</a:t>
            </a:r>
            <a:r>
              <a:rPr sz="1050" spc="45" dirty="0">
                <a:latin typeface="Arial" panose="020B0604020202020204"/>
                <a:cs typeface="Arial" panose="020B0604020202020204"/>
              </a:rPr>
              <a:t>o</a:t>
            </a:r>
            <a:r>
              <a:rPr sz="1050" spc="50" dirty="0">
                <a:latin typeface="Arial" panose="020B0604020202020204"/>
                <a:cs typeface="Arial" panose="020B0604020202020204"/>
              </a:rPr>
              <a:t>vided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tests)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251460">
              <a:lnSpc>
                <a:spcPct val="100000"/>
              </a:lnSpc>
              <a:spcBef>
                <a:spcPts val="6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50" dirty="0">
                <a:latin typeface="Arial" panose="020B0604020202020204"/>
                <a:cs typeface="Arial" panose="020B0604020202020204"/>
              </a:rPr>
              <a:t>Who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65" dirty="0">
                <a:latin typeface="Arial" panose="020B0604020202020204"/>
                <a:cs typeface="Arial" panose="020B0604020202020204"/>
              </a:rPr>
              <a:t>contributed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80" dirty="0">
                <a:latin typeface="Arial" panose="020B0604020202020204"/>
                <a:cs typeface="Arial" panose="020B0604020202020204"/>
              </a:rPr>
              <a:t>to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75" dirty="0">
                <a:latin typeface="Arial" panose="020B0604020202020204"/>
                <a:cs typeface="Arial" panose="020B0604020202020204"/>
              </a:rPr>
              <a:t>implement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70" dirty="0">
                <a:latin typeface="Arial" panose="020B0604020202020204"/>
                <a:cs typeface="Arial" panose="020B0604020202020204"/>
              </a:rPr>
              <a:t>what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251460">
              <a:lnSpc>
                <a:spcPct val="100000"/>
              </a:lnSpc>
              <a:spcBef>
                <a:spcPts val="6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P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r</a:t>
            </a:r>
            <a:r>
              <a:rPr sz="1050" spc="50" dirty="0">
                <a:latin typeface="Arial" panose="020B0604020202020204"/>
                <a:cs typeface="Arial" panose="020B0604020202020204"/>
              </a:rPr>
              <a:t>oposed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75" dirty="0">
                <a:latin typeface="Arial" panose="020B0604020202020204"/>
                <a:cs typeface="Arial" panose="020B0604020202020204"/>
              </a:rPr>
              <a:t>mark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80" dirty="0">
                <a:latin typeface="Arial" panose="020B0604020202020204"/>
                <a:cs typeface="Arial" panose="020B0604020202020204"/>
              </a:rPr>
              <a:t>for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each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65" dirty="0">
                <a:latin typeface="Arial" panose="020B0604020202020204"/>
                <a:cs typeface="Arial" panose="020B0604020202020204"/>
              </a:rPr>
              <a:t>item/functionality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223520">
              <a:lnSpc>
                <a:spcPct val="100000"/>
              </a:lnSpc>
              <a:spcBef>
                <a:spcPts val="270"/>
              </a:spcBef>
            </a:pPr>
            <a:r>
              <a:rPr sz="1200" spc="15" dirty="0">
                <a:latin typeface="Arial" panose="020B0604020202020204"/>
                <a:cs typeface="Arial" panose="020B0604020202020204"/>
              </a:rPr>
              <a:t>G</a:t>
            </a:r>
            <a:r>
              <a:rPr sz="1200" spc="-2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oup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comment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on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delive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ed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00" dirty="0">
                <a:latin typeface="Arial" panose="020B0604020202020204"/>
                <a:cs typeface="Arial" panose="020B0604020202020204"/>
              </a:rPr>
              <a:t>p</a:t>
            </a:r>
            <a:r>
              <a:rPr sz="1200" spc="3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35" dirty="0">
                <a:latin typeface="Arial" panose="020B0604020202020204"/>
                <a:cs typeface="Arial" panose="020B0604020202020204"/>
              </a:rPr>
              <a:t>oject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51460">
              <a:lnSpc>
                <a:spcPct val="100000"/>
              </a:lnSpc>
              <a:spcBef>
                <a:spcPts val="27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35" dirty="0">
                <a:latin typeface="Arial" panose="020B0604020202020204"/>
                <a:cs typeface="Arial" panose="020B0604020202020204"/>
              </a:rPr>
              <a:t>One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5" dirty="0">
                <a:latin typeface="Arial" panose="020B0604020202020204"/>
                <a:cs typeface="Arial" panose="020B0604020202020204"/>
              </a:rPr>
              <a:t>A4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50" dirty="0">
                <a:latin typeface="Arial" panose="020B0604020202020204"/>
                <a:cs typeface="Arial" panose="020B0604020202020204"/>
              </a:rPr>
              <a:t>page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80" dirty="0">
                <a:latin typeface="Arial" panose="020B0604020202020204"/>
                <a:cs typeface="Arial" panose="020B0604020202020204"/>
              </a:rPr>
              <a:t>maximum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251460">
              <a:lnSpc>
                <a:spcPct val="100000"/>
              </a:lnSpc>
              <a:spcBef>
                <a:spcPts val="6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Explain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60" dirty="0">
                <a:latin typeface="Arial" panose="020B0604020202020204"/>
                <a:cs typeface="Arial" panose="020B0604020202020204"/>
              </a:rPr>
              <a:t>why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3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65" dirty="0">
                <a:latin typeface="Arial" panose="020B0604020202020204"/>
                <a:cs typeface="Arial" panose="020B0604020202020204"/>
              </a:rPr>
              <a:t>item/functionality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70" dirty="0">
                <a:latin typeface="Arial" panose="020B0604020202020204"/>
                <a:cs typeface="Arial" panose="020B0604020202020204"/>
              </a:rPr>
              <a:t>a</a:t>
            </a:r>
            <a:r>
              <a:rPr sz="1050" spc="15" dirty="0">
                <a:latin typeface="Arial" panose="020B0604020202020204"/>
                <a:cs typeface="Arial" panose="020B0604020202020204"/>
              </a:rPr>
              <a:t>r</a:t>
            </a:r>
            <a:r>
              <a:rPr sz="1050" spc="20" dirty="0">
                <a:latin typeface="Arial" panose="020B0604020202020204"/>
                <a:cs typeface="Arial" panose="020B0604020202020204"/>
              </a:rPr>
              <a:t>e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80" dirty="0">
                <a:latin typeface="Arial" panose="020B0604020202020204"/>
                <a:cs typeface="Arial" panose="020B0604020202020204"/>
              </a:rPr>
              <a:t>not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55" dirty="0">
                <a:latin typeface="Arial" panose="020B0604020202020204"/>
                <a:cs typeface="Arial" panose="020B0604020202020204"/>
              </a:rPr>
              <a:t>fully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achi</a:t>
            </a:r>
            <a:r>
              <a:rPr sz="1050" spc="10" dirty="0">
                <a:latin typeface="Arial" panose="020B0604020202020204"/>
                <a:cs typeface="Arial" panose="020B0604020202020204"/>
              </a:rPr>
              <a:t>e</a:t>
            </a:r>
            <a:r>
              <a:rPr sz="1050" spc="35" dirty="0">
                <a:latin typeface="Arial" panose="020B0604020202020204"/>
                <a:cs typeface="Arial" panose="020B0604020202020204"/>
              </a:rPr>
              <a:t>ved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223520">
              <a:lnSpc>
                <a:spcPct val="100000"/>
              </a:lnSpc>
              <a:spcBef>
                <a:spcPts val="270"/>
              </a:spcBef>
            </a:pPr>
            <a:r>
              <a:rPr sz="1200" spc="20" dirty="0">
                <a:latin typeface="Arial" panose="020B0604020202020204"/>
                <a:cs typeface="Arial" panose="020B0604020202020204"/>
              </a:rPr>
              <a:t>Sou</a:t>
            </a:r>
            <a:r>
              <a:rPr sz="1200" spc="-15" dirty="0">
                <a:latin typeface="Arial" panose="020B0604020202020204"/>
                <a:cs typeface="Arial" panose="020B0604020202020204"/>
              </a:rPr>
              <a:t>rce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code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5" dirty="0">
                <a:latin typeface="Arial" panose="020B0604020202020204"/>
                <a:cs typeface="Arial" panose="020B0604020202020204"/>
              </a:rPr>
              <a:t>and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20" dirty="0">
                <a:latin typeface="Arial" panose="020B0604020202020204"/>
                <a:cs typeface="Arial" panose="020B0604020202020204"/>
              </a:rPr>
              <a:t>e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x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ecutables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51460">
              <a:lnSpc>
                <a:spcPct val="100000"/>
              </a:lnSpc>
              <a:spcBef>
                <a:spcPts val="27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60" dirty="0">
                <a:latin typeface="Arial" panose="020B0604020202020204"/>
                <a:cs typeface="Arial" panose="020B0604020202020204"/>
              </a:rPr>
              <a:t>Including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35" dirty="0">
                <a:latin typeface="Arial" panose="020B0604020202020204"/>
                <a:cs typeface="Arial" panose="020B0604020202020204"/>
              </a:rPr>
              <a:t>code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65" dirty="0">
                <a:latin typeface="Arial" panose="020B0604020202020204"/>
                <a:cs typeface="Arial" panose="020B0604020202020204"/>
              </a:rPr>
              <a:t>comments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55" dirty="0">
                <a:latin typeface="Arial" panose="020B0604020202020204"/>
                <a:cs typeface="Arial" panose="020B0604020202020204"/>
              </a:rPr>
              <a:t>and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65" dirty="0">
                <a:latin typeface="Arial" panose="020B0604020202020204"/>
                <a:cs typeface="Arial" panose="020B0604020202020204"/>
              </a:rPr>
              <a:t>documentation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251460">
              <a:lnSpc>
                <a:spcPct val="100000"/>
              </a:lnSpc>
              <a:spcBef>
                <a:spcPts val="6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30" dirty="0">
                <a:latin typeface="Arial" panose="020B0604020202020204"/>
                <a:cs typeface="Arial" panose="020B0604020202020204"/>
              </a:rPr>
              <a:t>Will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50" dirty="0">
                <a:latin typeface="Arial" panose="020B0604020202020204"/>
                <a:cs typeface="Arial" panose="020B0604020202020204"/>
              </a:rPr>
              <a:t>be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50" dirty="0">
                <a:latin typeface="Arial" panose="020B0604020202020204"/>
                <a:cs typeface="Arial" panose="020B0604020202020204"/>
              </a:rPr>
              <a:t>tested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60" dirty="0">
                <a:latin typeface="Arial" panose="020B0604020202020204"/>
                <a:cs typeface="Arial" panose="020B0604020202020204"/>
              </a:rPr>
              <a:t>in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10" dirty="0">
                <a:latin typeface="Arial" panose="020B0604020202020204"/>
                <a:cs typeface="Arial" panose="020B0604020202020204"/>
              </a:rPr>
              <a:t>VMs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110" dirty="0">
                <a:latin typeface="Arial" panose="020B0604020202020204"/>
                <a:cs typeface="Arial" panose="020B0604020202020204"/>
              </a:rPr>
              <a:t>p</a:t>
            </a:r>
            <a:r>
              <a:rPr sz="1050" spc="40" dirty="0">
                <a:latin typeface="Arial" panose="020B0604020202020204"/>
                <a:cs typeface="Arial" panose="020B0604020202020204"/>
              </a:rPr>
              <a:t>r</a:t>
            </a:r>
            <a:r>
              <a:rPr sz="1050" spc="45" dirty="0">
                <a:latin typeface="Arial" panose="020B0604020202020204"/>
                <a:cs typeface="Arial" panose="020B0604020202020204"/>
              </a:rPr>
              <a:t>o</a:t>
            </a:r>
            <a:r>
              <a:rPr sz="1050" spc="50" dirty="0">
                <a:latin typeface="Arial" panose="020B0604020202020204"/>
                <a:cs typeface="Arial" panose="020B0604020202020204"/>
              </a:rPr>
              <a:t>vided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80" dirty="0">
                <a:latin typeface="Arial" panose="020B0604020202020204"/>
                <a:cs typeface="Arial" panose="020B0604020202020204"/>
              </a:rPr>
              <a:t>for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65" dirty="0">
                <a:latin typeface="Arial" panose="020B0604020202020204"/>
                <a:cs typeface="Arial" panose="020B0604020202020204"/>
              </a:rPr>
              <a:t>the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65" dirty="0">
                <a:latin typeface="Arial" panose="020B0604020202020204"/>
                <a:cs typeface="Arial" panose="020B0604020202020204"/>
              </a:rPr>
              <a:t>module</a:t>
            </a:r>
            <a:endParaRPr sz="1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9275" y="3788095"/>
            <a:ext cx="184163" cy="1098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600" b="1" spc="5" dirty="0">
                <a:latin typeface="Arial" panose="020B0604020202020204"/>
                <a:cs typeface="Arial" panose="020B0604020202020204"/>
              </a:rPr>
              <a:t>5</a:t>
            </a:r>
            <a:r>
              <a:rPr sz="6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600" b="1" spc="80" dirty="0">
                <a:latin typeface="Arial" panose="020B0604020202020204"/>
                <a:cs typeface="Arial" panose="020B0604020202020204"/>
              </a:rPr>
              <a:t>/</a:t>
            </a:r>
            <a:r>
              <a:rPr sz="6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600" b="1" spc="5" dirty="0">
                <a:latin typeface="Arial" panose="020B0604020202020204"/>
                <a:cs typeface="Arial" panose="020B0604020202020204"/>
              </a:rPr>
              <a:t>7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17304" y="3805686"/>
            <a:ext cx="4688890" cy="97654"/>
          </a:xfrm>
          <a:custGeom>
            <a:avLst/>
            <a:gdLst/>
            <a:ahLst/>
            <a:cxnLst/>
            <a:rect l="l" t="t" r="r" b="b"/>
            <a:pathLst>
              <a:path w="4688558" h="97647">
                <a:moveTo>
                  <a:pt x="0" y="97647"/>
                </a:moveTo>
                <a:lnTo>
                  <a:pt x="4688558" y="97647"/>
                </a:lnTo>
                <a:lnTo>
                  <a:pt x="4688558" y="0"/>
                </a:lnTo>
                <a:lnTo>
                  <a:pt x="0" y="0"/>
                </a:lnTo>
                <a:lnTo>
                  <a:pt x="0" y="97647"/>
                </a:lnTo>
                <a:close/>
              </a:path>
            </a:pathLst>
          </a:custGeom>
          <a:solidFill>
            <a:srgbClr val="23237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108" y="3913120"/>
            <a:ext cx="5861086" cy="0"/>
          </a:xfrm>
          <a:custGeom>
            <a:avLst/>
            <a:gdLst/>
            <a:ahLst/>
            <a:cxnLst/>
            <a:rect l="l" t="t" r="r" b="b"/>
            <a:pathLst>
              <a:path w="5860671">
                <a:moveTo>
                  <a:pt x="0" y="0"/>
                </a:moveTo>
                <a:lnTo>
                  <a:pt x="5860671" y="0"/>
                </a:lnTo>
              </a:path>
            </a:pathLst>
          </a:custGeom>
          <a:ln w="20827">
            <a:solidFill>
              <a:srgbClr val="2D2D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1252" y="3942427"/>
            <a:ext cx="5274942" cy="0"/>
          </a:xfrm>
          <a:custGeom>
            <a:avLst/>
            <a:gdLst/>
            <a:ahLst/>
            <a:cxnLst/>
            <a:rect l="l" t="t" r="r" b="b"/>
            <a:pathLst>
              <a:path w="5274569">
                <a:moveTo>
                  <a:pt x="0" y="0"/>
                </a:moveTo>
                <a:lnTo>
                  <a:pt x="5274568" y="0"/>
                </a:lnTo>
              </a:path>
            </a:pathLst>
          </a:custGeom>
          <a:ln w="40323">
            <a:solidFill>
              <a:srgbClr val="4747B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/>
          <p:nvPr/>
        </p:nvSpPr>
        <p:spPr>
          <a:xfrm>
            <a:off x="5049461" y="87914"/>
            <a:ext cx="798887" cy="1098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600" b="1" spc="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6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600" b="1" spc="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oject</a:t>
            </a:r>
            <a:r>
              <a:rPr sz="6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Int</a:t>
            </a:r>
            <a:r>
              <a:rPr sz="600" b="1" spc="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600" b="1" spc="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oduction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371996" y="472564"/>
            <a:ext cx="5258172" cy="2876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5244465" algn="l"/>
              </a:tabLst>
            </a:pPr>
            <a:r>
              <a:rPr sz="1700" b="1" u="sng" spc="5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Recommanded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2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700" b="1" u="sng" spc="8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eek</a:t>
            </a:r>
            <a:r>
              <a:rPr sz="1700" b="1" u="sng" spc="-3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u="sng" spc="-18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u="sng" spc="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asks</a:t>
            </a:r>
            <a:r>
              <a:rPr sz="1700" b="1" u="sng" spc="56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	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6705" y="1132566"/>
            <a:ext cx="1913390" cy="107195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200" b="1" spc="5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eek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sz="1200" b="1" spc="1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lang="zh-CN" altLang="en-US" sz="1200" b="1" spc="1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、</a:t>
            </a:r>
            <a:r>
              <a:rPr lang="en-US" altLang="zh-CN" sz="1200" b="1" spc="1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223520" marR="12700">
              <a:lnSpc>
                <a:spcPts val="1800"/>
              </a:lnSpc>
              <a:spcBef>
                <a:spcPts val="90"/>
              </a:spcBef>
            </a:pPr>
            <a:r>
              <a:rPr sz="1200" spc="35" dirty="0">
                <a:latin typeface="Arial" panose="020B0604020202020204"/>
                <a:cs typeface="Arial" panose="020B0604020202020204"/>
              </a:rPr>
              <a:t>Exploring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the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80" dirty="0">
                <a:latin typeface="Arial" panose="020B0604020202020204"/>
                <a:cs typeface="Arial" panose="020B0604020202020204"/>
              </a:rPr>
              <a:t>RFC(s)</a:t>
            </a:r>
            <a:r>
              <a:rPr sz="1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5" dirty="0">
                <a:latin typeface="Arial" panose="020B0604020202020204"/>
                <a:cs typeface="Arial" panose="020B0604020202020204"/>
              </a:rPr>
              <a:t>Experimenting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with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the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223520">
              <a:lnSpc>
                <a:spcPts val="1320"/>
              </a:lnSpc>
            </a:pPr>
            <a:r>
              <a:rPr sz="1200" spc="100" dirty="0">
                <a:latin typeface="Arial" panose="020B0604020202020204"/>
                <a:cs typeface="Arial" panose="020B0604020202020204"/>
              </a:rPr>
              <a:t>p</a:t>
            </a:r>
            <a:r>
              <a:rPr sz="1200" spc="3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45" dirty="0">
                <a:latin typeface="Arial" panose="020B0604020202020204"/>
                <a:cs typeface="Arial" panose="020B0604020202020204"/>
              </a:rPr>
              <a:t>otocol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5" dirty="0">
                <a:latin typeface="Arial" panose="020B0604020202020204"/>
                <a:cs typeface="Arial" panose="020B0604020202020204"/>
              </a:rPr>
              <a:t>and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sockets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223520">
              <a:lnSpc>
                <a:spcPct val="100000"/>
              </a:lnSpc>
              <a:spcBef>
                <a:spcPts val="360"/>
              </a:spcBef>
            </a:pPr>
            <a:r>
              <a:rPr sz="1200" spc="50" dirty="0">
                <a:latin typeface="Arial" panose="020B0604020202020204"/>
                <a:cs typeface="Arial" panose="020B0604020202020204"/>
              </a:rPr>
              <a:t>Modelling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latin typeface="Arial" panose="020B0604020202020204"/>
                <a:cs typeface="Arial" panose="020B0604020202020204"/>
              </a:rPr>
              <a:t>classes</a:t>
            </a:r>
            <a:endParaRPr sz="1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6705" y="2401574"/>
            <a:ext cx="2204241" cy="125548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200" b="1" spc="5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eek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sz="1200" b="1" spc="1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223520" marR="150495">
              <a:lnSpc>
                <a:spcPct val="100000"/>
              </a:lnSpc>
              <a:spcBef>
                <a:spcPts val="330"/>
              </a:spcBef>
            </a:pPr>
            <a:r>
              <a:rPr sz="1200" spc="45" dirty="0">
                <a:latin typeface="Arial" panose="020B0604020202020204"/>
                <a:cs typeface="Arial" panose="020B0604020202020204"/>
              </a:rPr>
              <a:t>Experimenting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with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5" dirty="0">
                <a:latin typeface="Arial" panose="020B0604020202020204"/>
                <a:cs typeface="Arial" panose="020B0604020202020204"/>
              </a:rPr>
              <a:t>client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5" dirty="0">
                <a:latin typeface="Arial" panose="020B0604020202020204"/>
                <a:cs typeface="Arial" panose="020B0604020202020204"/>
              </a:rPr>
              <a:t>and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server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sockets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223520" marR="12700">
              <a:lnSpc>
                <a:spcPct val="125000"/>
              </a:lnSpc>
            </a:pPr>
            <a:r>
              <a:rPr sz="1200" spc="65" dirty="0">
                <a:latin typeface="Arial" panose="020B0604020202020204"/>
                <a:cs typeface="Arial" panose="020B0604020202020204"/>
              </a:rPr>
              <a:t>Implementing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basic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latin typeface="Arial" panose="020B0604020202020204"/>
                <a:cs typeface="Arial" panose="020B0604020202020204"/>
              </a:rPr>
              <a:t>classes</a:t>
            </a:r>
            <a:r>
              <a:rPr sz="1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Implementing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connection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223520">
              <a:lnSpc>
                <a:spcPct val="100000"/>
              </a:lnSpc>
            </a:pPr>
            <a:r>
              <a:rPr sz="1200" spc="45" dirty="0">
                <a:latin typeface="Arial" panose="020B0604020202020204"/>
                <a:cs typeface="Arial" panose="020B0604020202020204"/>
              </a:rPr>
              <a:t>and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5" dirty="0">
                <a:latin typeface="Arial" panose="020B0604020202020204"/>
                <a:cs typeface="Arial" panose="020B0604020202020204"/>
              </a:rPr>
              <a:t>login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5" dirty="0">
                <a:latin typeface="Arial" panose="020B0604020202020204"/>
                <a:cs typeface="Arial" panose="020B0604020202020204"/>
              </a:rPr>
              <a:t>(bot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15" dirty="0">
                <a:latin typeface="Arial" panose="020B0604020202020204"/>
                <a:cs typeface="Arial" panose="020B0604020202020204"/>
              </a:rPr>
              <a:t>+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server)</a:t>
            </a:r>
            <a:endParaRPr sz="1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54074" y="1132566"/>
            <a:ext cx="2214402" cy="125548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200" b="1" spc="5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eek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sz="1200" b="1" spc="10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6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223520" marR="200025">
              <a:lnSpc>
                <a:spcPct val="100000"/>
              </a:lnSpc>
              <a:spcBef>
                <a:spcPts val="330"/>
              </a:spcBef>
            </a:pPr>
            <a:r>
              <a:rPr sz="1200" spc="65" dirty="0">
                <a:latin typeface="Arial" panose="020B0604020202020204"/>
                <a:cs typeface="Arial" panose="020B0604020202020204"/>
              </a:rPr>
              <a:t>Implementing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all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the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0" dirty="0">
                <a:latin typeface="Arial" panose="020B0604020202020204"/>
                <a:cs typeface="Arial" panose="020B0604020202020204"/>
              </a:rPr>
              <a:t>bot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featu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-15" dirty="0">
                <a:latin typeface="Arial" panose="020B0604020202020204"/>
                <a:cs typeface="Arial" panose="020B0604020202020204"/>
              </a:rPr>
              <a:t>es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(including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20" dirty="0">
                <a:latin typeface="Arial" panose="020B0604020202020204"/>
                <a:cs typeface="Arial" panose="020B0604020202020204"/>
              </a:rPr>
              <a:t>e</a:t>
            </a:r>
            <a:r>
              <a:rPr sz="1200" spc="75" dirty="0">
                <a:latin typeface="Arial" panose="020B0604020202020204"/>
                <a:cs typeface="Arial" panose="020B0604020202020204"/>
              </a:rPr>
              <a:t>xt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a)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223520" marR="12700">
              <a:lnSpc>
                <a:spcPct val="100000"/>
              </a:lnSpc>
              <a:spcBef>
                <a:spcPts val="360"/>
              </a:spcBef>
            </a:pPr>
            <a:r>
              <a:rPr sz="1200" spc="65" dirty="0">
                <a:latin typeface="Arial" panose="020B0604020202020204"/>
                <a:cs typeface="Arial" panose="020B0604020202020204"/>
              </a:rPr>
              <a:t>Implementing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basic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server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featu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-15" dirty="0">
                <a:latin typeface="Arial" panose="020B0604020202020204"/>
                <a:cs typeface="Arial" panose="020B0604020202020204"/>
              </a:rPr>
              <a:t>es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35" dirty="0">
                <a:latin typeface="Arial" panose="020B0604020202020204"/>
                <a:cs typeface="Arial" panose="020B0604020202020204"/>
              </a:rPr>
              <a:t>(private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messages)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223520">
              <a:lnSpc>
                <a:spcPct val="100000"/>
              </a:lnSpc>
              <a:spcBef>
                <a:spcPts val="360"/>
              </a:spcBef>
            </a:pPr>
            <a:r>
              <a:rPr sz="1200" spc="50" dirty="0">
                <a:latin typeface="Arial" panose="020B0604020202020204"/>
                <a:cs typeface="Arial" panose="020B0604020202020204"/>
              </a:rPr>
              <a:t>Supporting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multiple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clients</a:t>
            </a:r>
            <a:endParaRPr sz="1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54074" y="2584677"/>
            <a:ext cx="2028969" cy="107195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spc="-5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200" b="1" spc="5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eek</a:t>
            </a:r>
            <a:r>
              <a:rPr sz="1200" b="1" spc="-25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sz="1200" b="1" spc="1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223520" marR="207645">
              <a:lnSpc>
                <a:spcPct val="100000"/>
              </a:lnSpc>
              <a:spcBef>
                <a:spcPts val="330"/>
              </a:spcBef>
            </a:pPr>
            <a:r>
              <a:rPr sz="1200" spc="45" dirty="0">
                <a:latin typeface="Arial" panose="020B0604020202020204"/>
                <a:cs typeface="Arial" panose="020B0604020202020204"/>
              </a:rPr>
              <a:t>Completing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the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server</a:t>
            </a:r>
            <a:r>
              <a:rPr sz="1200" spc="1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(channel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messages)</a:t>
            </a:r>
            <a:endParaRPr sz="1200" dirty="0">
              <a:latin typeface="Arial" panose="020B0604020202020204"/>
              <a:cs typeface="Arial" panose="020B0604020202020204"/>
            </a:endParaRPr>
          </a:p>
          <a:p>
            <a:pPr marL="223520" marR="12700">
              <a:lnSpc>
                <a:spcPct val="125000"/>
              </a:lnSpc>
            </a:pPr>
            <a:r>
              <a:rPr sz="1200" spc="-155" dirty="0">
                <a:latin typeface="Arial" panose="020B0604020202020204"/>
                <a:cs typeface="Arial" panose="020B0604020202020204"/>
              </a:rPr>
              <a:t>T</a:t>
            </a:r>
            <a:r>
              <a:rPr sz="1200" spc="40" dirty="0">
                <a:latin typeface="Arial" panose="020B0604020202020204"/>
                <a:cs typeface="Arial" panose="020B0604020202020204"/>
              </a:rPr>
              <a:t>esting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5" dirty="0">
                <a:latin typeface="Arial" panose="020B0604020202020204"/>
                <a:cs typeface="Arial" panose="020B0604020202020204"/>
              </a:rPr>
              <a:t>and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debugging</a:t>
            </a:r>
            <a:r>
              <a:rPr sz="1200" spc="30" dirty="0">
                <a:latin typeface="Arial" panose="020B0604020202020204"/>
                <a:cs typeface="Arial" panose="020B0604020202020204"/>
              </a:rPr>
              <a:t> Polishing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45" dirty="0">
                <a:latin typeface="Arial" panose="020B0604020202020204"/>
                <a:cs typeface="Arial" panose="020B0604020202020204"/>
              </a:rPr>
              <a:t>and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submitting</a:t>
            </a:r>
            <a:endParaRPr sz="1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7209" y="3788095"/>
            <a:ext cx="184163" cy="1098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600" b="1" spc="5" dirty="0">
                <a:latin typeface="Arial" panose="020B0604020202020204"/>
                <a:cs typeface="Arial" panose="020B0604020202020204"/>
              </a:rPr>
              <a:t>6</a:t>
            </a:r>
            <a:r>
              <a:rPr sz="6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600" b="1" spc="80" dirty="0">
                <a:latin typeface="Arial" panose="020B0604020202020204"/>
                <a:cs typeface="Arial" panose="020B0604020202020204"/>
              </a:rPr>
              <a:t>/</a:t>
            </a:r>
            <a:r>
              <a:rPr sz="6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600" b="1" spc="5" dirty="0">
                <a:latin typeface="Arial" panose="020B0604020202020204"/>
                <a:cs typeface="Arial" panose="020B0604020202020204"/>
              </a:rPr>
              <a:t>7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05238" y="3805686"/>
            <a:ext cx="4688890" cy="97654"/>
          </a:xfrm>
          <a:custGeom>
            <a:avLst/>
            <a:gdLst/>
            <a:ahLst/>
            <a:cxnLst/>
            <a:rect l="l" t="t" r="r" b="b"/>
            <a:pathLst>
              <a:path w="4688558" h="97647">
                <a:moveTo>
                  <a:pt x="0" y="97647"/>
                </a:moveTo>
                <a:lnTo>
                  <a:pt x="4688558" y="97647"/>
                </a:lnTo>
                <a:lnTo>
                  <a:pt x="4688558" y="0"/>
                </a:lnTo>
                <a:lnTo>
                  <a:pt x="0" y="0"/>
                </a:lnTo>
                <a:lnTo>
                  <a:pt x="0" y="97647"/>
                </a:lnTo>
                <a:close/>
              </a:path>
            </a:pathLst>
          </a:custGeom>
          <a:solidFill>
            <a:srgbClr val="23237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042" y="3913120"/>
            <a:ext cx="5861086" cy="0"/>
          </a:xfrm>
          <a:custGeom>
            <a:avLst/>
            <a:gdLst/>
            <a:ahLst/>
            <a:cxnLst/>
            <a:rect l="l" t="t" r="r" b="b"/>
            <a:pathLst>
              <a:path w="5860671">
                <a:moveTo>
                  <a:pt x="0" y="0"/>
                </a:moveTo>
                <a:lnTo>
                  <a:pt x="5860671" y="0"/>
                </a:lnTo>
              </a:path>
            </a:pathLst>
          </a:custGeom>
          <a:ln w="20827">
            <a:solidFill>
              <a:srgbClr val="2D2D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19186" y="3942427"/>
            <a:ext cx="5274942" cy="0"/>
          </a:xfrm>
          <a:custGeom>
            <a:avLst/>
            <a:gdLst/>
            <a:ahLst/>
            <a:cxnLst/>
            <a:rect l="l" t="t" r="r" b="b"/>
            <a:pathLst>
              <a:path w="5274569">
                <a:moveTo>
                  <a:pt x="0" y="0"/>
                </a:moveTo>
                <a:lnTo>
                  <a:pt x="5274568" y="0"/>
                </a:lnTo>
              </a:path>
            </a:pathLst>
          </a:custGeom>
          <a:ln w="40323">
            <a:solidFill>
              <a:srgbClr val="4747B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/>
          <p:nvPr/>
        </p:nvSpPr>
        <p:spPr>
          <a:xfrm>
            <a:off x="5051366" y="87914"/>
            <a:ext cx="798887" cy="1098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600" b="1" spc="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6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600" b="1" spc="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oject</a:t>
            </a:r>
            <a:r>
              <a:rPr sz="6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Int</a:t>
            </a:r>
            <a:r>
              <a:rPr sz="600" b="1" spc="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600" b="1" spc="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oduction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373901" y="472564"/>
            <a:ext cx="5258172" cy="2876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5244465" algn="l"/>
              </a:tabLst>
            </a:pPr>
            <a:r>
              <a:rPr sz="1700" b="1" u="sng" spc="15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Conclusion</a:t>
            </a:r>
            <a:r>
              <a:rPr sz="1700" b="1" u="sng" spc="560" dirty="0">
                <a:solidFill>
                  <a:srgbClr val="23237C"/>
                </a:solidFill>
                <a:latin typeface="Arial" panose="020B0604020202020204"/>
                <a:cs typeface="Arial" panose="020B0604020202020204"/>
              </a:rPr>
              <a:t> 	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8595" y="1459547"/>
            <a:ext cx="3083143" cy="119007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spc="1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Final</a:t>
            </a:r>
            <a:r>
              <a:rPr sz="1200" b="1" spc="-2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5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advices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23520">
              <a:lnSpc>
                <a:spcPct val="100000"/>
              </a:lnSpc>
              <a:spcBef>
                <a:spcPts val="210"/>
              </a:spcBef>
            </a:pPr>
            <a:r>
              <a:rPr sz="1200" spc="10" dirty="0">
                <a:latin typeface="Arial" panose="020B0604020202020204"/>
                <a:cs typeface="Arial" panose="020B0604020202020204"/>
              </a:rPr>
              <a:t>Get</a:t>
            </a:r>
            <a:r>
              <a:rPr sz="1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5" dirty="0">
                <a:latin typeface="Arial" panose="020B0604020202020204"/>
                <a:cs typeface="Arial" panose="020B0604020202020204"/>
              </a:rPr>
              <a:t>in</a:t>
            </a:r>
            <a:r>
              <a:rPr sz="1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0" dirty="0">
                <a:latin typeface="Arial" panose="020B0604020202020204"/>
                <a:cs typeface="Arial" panose="020B0604020202020204"/>
              </a:rPr>
              <a:t>touch</a:t>
            </a:r>
            <a:r>
              <a:rPr sz="1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5" dirty="0">
                <a:latin typeface="Arial" panose="020B0604020202020204"/>
                <a:cs typeface="Arial" panose="020B0604020202020204"/>
              </a:rPr>
              <a:t>in</a:t>
            </a:r>
            <a:r>
              <a:rPr sz="1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-15" dirty="0">
                <a:latin typeface="Arial" panose="020B0604020202020204"/>
                <a:cs typeface="Arial" panose="020B0604020202020204"/>
              </a:rPr>
              <a:t>case</a:t>
            </a:r>
            <a:r>
              <a:rPr sz="1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of</a:t>
            </a:r>
            <a:r>
              <a:rPr sz="1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00" dirty="0">
                <a:latin typeface="Arial" panose="020B0604020202020204"/>
                <a:cs typeface="Arial" panose="020B0604020202020204"/>
              </a:rPr>
              <a:t>g</a:t>
            </a:r>
            <a:r>
              <a:rPr sz="1200" spc="30" dirty="0">
                <a:latin typeface="Arial" panose="020B0604020202020204"/>
                <a:cs typeface="Arial" panose="020B0604020202020204"/>
              </a:rPr>
              <a:t>r</a:t>
            </a:r>
            <a:r>
              <a:rPr sz="1200" spc="65" dirty="0">
                <a:latin typeface="Arial" panose="020B0604020202020204"/>
                <a:cs typeface="Arial" panose="020B0604020202020204"/>
              </a:rPr>
              <a:t>oup</a:t>
            </a:r>
            <a:r>
              <a:rPr sz="1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60" dirty="0">
                <a:latin typeface="Arial" panose="020B0604020202020204"/>
                <a:cs typeface="Arial" panose="020B0604020202020204"/>
              </a:rPr>
              <a:t>work</a:t>
            </a:r>
            <a:r>
              <a:rPr sz="1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10" dirty="0">
                <a:latin typeface="Arial" panose="020B0604020202020204"/>
                <a:cs typeface="Arial" panose="020B0604020202020204"/>
              </a:rPr>
              <a:t>issue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51460">
              <a:lnSpc>
                <a:spcPct val="100000"/>
              </a:lnSpc>
              <a:spcBef>
                <a:spcPts val="27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35" dirty="0">
                <a:latin typeface="Arial" panose="020B0604020202020204"/>
                <a:cs typeface="Arial" panose="020B0604020202020204"/>
              </a:rPr>
              <a:t>Sooner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60" dirty="0">
                <a:latin typeface="Arial" panose="020B0604020202020204"/>
                <a:cs typeface="Arial" panose="020B0604020202020204"/>
              </a:rPr>
              <a:t>th</a:t>
            </a:r>
            <a:r>
              <a:rPr sz="1050" spc="55" dirty="0">
                <a:latin typeface="Arial" panose="020B0604020202020204"/>
                <a:cs typeface="Arial" panose="020B0604020202020204"/>
              </a:rPr>
              <a:t>e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y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70" dirty="0">
                <a:latin typeface="Arial" panose="020B0604020202020204"/>
                <a:cs typeface="Arial" panose="020B0604020202020204"/>
              </a:rPr>
              <a:t>a</a:t>
            </a:r>
            <a:r>
              <a:rPr sz="1050" spc="15" dirty="0">
                <a:latin typeface="Arial" panose="020B0604020202020204"/>
                <a:cs typeface="Arial" panose="020B0604020202020204"/>
              </a:rPr>
              <a:t>r</a:t>
            </a:r>
            <a:r>
              <a:rPr sz="1050" spc="20" dirty="0">
                <a:latin typeface="Arial" panose="020B0604020202020204"/>
                <a:cs typeface="Arial" panose="020B0604020202020204"/>
              </a:rPr>
              <a:t>e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75" dirty="0">
                <a:latin typeface="Arial" panose="020B0604020202020204"/>
                <a:cs typeface="Arial" panose="020B0604020202020204"/>
              </a:rPr>
              <a:t>add</a:t>
            </a:r>
            <a:r>
              <a:rPr sz="1050" spc="20" dirty="0">
                <a:latin typeface="Arial" panose="020B0604020202020204"/>
                <a:cs typeface="Arial" panose="020B0604020202020204"/>
              </a:rPr>
              <a:t>ressed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65" dirty="0">
                <a:latin typeface="Arial" panose="020B0604020202020204"/>
                <a:cs typeface="Arial" panose="020B0604020202020204"/>
              </a:rPr>
              <a:t>the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65" dirty="0">
                <a:latin typeface="Arial" panose="020B0604020202020204"/>
                <a:cs typeface="Arial" panose="020B0604020202020204"/>
              </a:rPr>
              <a:t>better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251460">
              <a:lnSpc>
                <a:spcPct val="100000"/>
              </a:lnSpc>
              <a:spcBef>
                <a:spcPts val="6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50" dirty="0">
                <a:latin typeface="Arial" panose="020B0604020202020204"/>
                <a:cs typeface="Arial" panose="020B0604020202020204"/>
              </a:rPr>
              <a:t>Remember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80" dirty="0">
                <a:latin typeface="Arial" panose="020B0604020202020204"/>
                <a:cs typeface="Arial" panose="020B0604020202020204"/>
              </a:rPr>
              <a:t>not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-5" dirty="0">
                <a:latin typeface="Arial" panose="020B0604020202020204"/>
                <a:cs typeface="Arial" panose="020B0604020202020204"/>
              </a:rPr>
              <a:t>e</a:t>
            </a:r>
            <a:r>
              <a:rPr sz="1050" spc="45" dirty="0">
                <a:latin typeface="Arial" panose="020B0604020202020204"/>
                <a:cs typeface="Arial" panose="020B0604020202020204"/>
              </a:rPr>
              <a:t>veryone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75" dirty="0">
                <a:latin typeface="Arial" panose="020B0604020202020204"/>
                <a:cs typeface="Arial" panose="020B0604020202020204"/>
              </a:rPr>
              <a:t>work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65" dirty="0">
                <a:latin typeface="Arial" panose="020B0604020202020204"/>
                <a:cs typeface="Arial" panose="020B0604020202020204"/>
              </a:rPr>
              <a:t>the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30" dirty="0">
                <a:latin typeface="Arial" panose="020B0604020202020204"/>
                <a:cs typeface="Arial" panose="020B0604020202020204"/>
              </a:rPr>
              <a:t>same!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223520">
              <a:lnSpc>
                <a:spcPct val="100000"/>
              </a:lnSpc>
              <a:spcBef>
                <a:spcPts val="270"/>
              </a:spcBef>
            </a:pPr>
            <a:r>
              <a:rPr sz="1200" spc="45" dirty="0">
                <a:latin typeface="Arial" panose="020B0604020202020204"/>
                <a:cs typeface="Arial" panose="020B0604020202020204"/>
              </a:rPr>
              <a:t>Do</a:t>
            </a:r>
            <a:r>
              <a:rPr sz="1200" spc="25" dirty="0">
                <a:latin typeface="Arial" panose="020B0604020202020204"/>
                <a:cs typeface="Arial" panose="020B0604020202020204"/>
              </a:rPr>
              <a:t>n</a:t>
            </a:r>
            <a:r>
              <a:rPr sz="1200" spc="20" dirty="0">
                <a:latin typeface="Arial" panose="020B0604020202020204"/>
                <a:cs typeface="Arial" panose="020B0604020202020204"/>
              </a:rPr>
              <a:t>’t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0" dirty="0">
                <a:latin typeface="Arial" panose="020B0604020202020204"/>
                <a:cs typeface="Arial" panose="020B0604020202020204"/>
              </a:rPr>
              <a:t>wait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75" dirty="0">
                <a:latin typeface="Arial" panose="020B0604020202020204"/>
                <a:cs typeface="Arial" panose="020B0604020202020204"/>
              </a:rPr>
              <a:t>to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0" dirty="0">
                <a:latin typeface="Arial" panose="020B0604020202020204"/>
                <a:cs typeface="Arial" panose="020B0604020202020204"/>
              </a:rPr>
              <a:t>start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200" spc="55" dirty="0">
                <a:latin typeface="Arial" panose="020B0604020202020204"/>
                <a:cs typeface="Arial" panose="020B0604020202020204"/>
              </a:rPr>
              <a:t>working!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251460">
              <a:lnSpc>
                <a:spcPct val="100000"/>
              </a:lnSpc>
              <a:spcBef>
                <a:spcPts val="270"/>
              </a:spcBef>
            </a:pPr>
            <a:r>
              <a:rPr sz="1575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▶ </a:t>
            </a:r>
            <a:r>
              <a:rPr sz="1575" spc="-97" baseline="11000" dirty="0">
                <a:solidFill>
                  <a:srgbClr val="19195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050" spc="25" dirty="0">
                <a:latin typeface="Arial" panose="020B0604020202020204"/>
                <a:cs typeface="Arial" panose="020B0604020202020204"/>
              </a:rPr>
              <a:t>Foll</a:t>
            </a:r>
            <a:r>
              <a:rPr sz="1050" spc="10" dirty="0">
                <a:latin typeface="Arial" panose="020B0604020202020204"/>
                <a:cs typeface="Arial" panose="020B0604020202020204"/>
              </a:rPr>
              <a:t>o</a:t>
            </a:r>
            <a:r>
              <a:rPr sz="1050" spc="90" dirty="0">
                <a:latin typeface="Arial" panose="020B0604020202020204"/>
                <a:cs typeface="Arial" panose="020B0604020202020204"/>
              </a:rPr>
              <a:t>w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65" dirty="0">
                <a:latin typeface="Arial" panose="020B0604020202020204"/>
                <a:cs typeface="Arial" panose="020B0604020202020204"/>
              </a:rPr>
              <a:t>the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110" dirty="0">
                <a:latin typeface="Arial" panose="020B0604020202020204"/>
                <a:cs typeface="Arial" panose="020B0604020202020204"/>
              </a:rPr>
              <a:t>p</a:t>
            </a:r>
            <a:r>
              <a:rPr sz="1050" spc="40" dirty="0">
                <a:latin typeface="Arial" panose="020B0604020202020204"/>
                <a:cs typeface="Arial" panose="020B0604020202020204"/>
              </a:rPr>
              <a:t>r</a:t>
            </a:r>
            <a:r>
              <a:rPr sz="1050" spc="50" dirty="0">
                <a:latin typeface="Arial" panose="020B0604020202020204"/>
                <a:cs typeface="Arial" panose="020B0604020202020204"/>
              </a:rPr>
              <a:t>oposed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35" dirty="0">
                <a:latin typeface="Arial" panose="020B0604020202020204"/>
                <a:cs typeface="Arial" panose="020B0604020202020204"/>
              </a:rPr>
              <a:t>task</a:t>
            </a:r>
            <a:r>
              <a:rPr sz="105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spc="35" dirty="0">
                <a:latin typeface="Arial" panose="020B0604020202020204"/>
                <a:cs typeface="Arial" panose="020B0604020202020204"/>
              </a:rPr>
              <a:t>schedule</a:t>
            </a:r>
            <a:endParaRPr sz="1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29637" y="1459547"/>
            <a:ext cx="869377" cy="2063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3333B2"/>
                </a:solidFill>
                <a:latin typeface="Arial" panose="020B0604020202020204"/>
                <a:cs typeface="Arial" panose="020B0604020202020204"/>
              </a:rPr>
              <a:t>Questions?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42338" y="1648012"/>
            <a:ext cx="1547162" cy="15471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9114" y="3788095"/>
            <a:ext cx="184163" cy="1098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600" b="1" spc="5" dirty="0">
                <a:latin typeface="Arial" panose="020B0604020202020204"/>
                <a:cs typeface="Arial" panose="020B0604020202020204"/>
              </a:rPr>
              <a:t>7</a:t>
            </a:r>
            <a:r>
              <a:rPr sz="6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600" b="1" spc="80" dirty="0">
                <a:latin typeface="Arial" panose="020B0604020202020204"/>
                <a:cs typeface="Arial" panose="020B0604020202020204"/>
              </a:rPr>
              <a:t>/</a:t>
            </a:r>
            <a:r>
              <a:rPr sz="6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600" b="1" spc="5" dirty="0">
                <a:latin typeface="Arial" panose="020B0604020202020204"/>
                <a:cs typeface="Arial" panose="020B0604020202020204"/>
              </a:rPr>
              <a:t>7</a:t>
            </a:r>
            <a:endParaRPr sz="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07143" y="3805686"/>
            <a:ext cx="4688890" cy="97654"/>
          </a:xfrm>
          <a:custGeom>
            <a:avLst/>
            <a:gdLst/>
            <a:ahLst/>
            <a:cxnLst/>
            <a:rect l="l" t="t" r="r" b="b"/>
            <a:pathLst>
              <a:path w="4688558" h="97647">
                <a:moveTo>
                  <a:pt x="0" y="97647"/>
                </a:moveTo>
                <a:lnTo>
                  <a:pt x="4688558" y="97647"/>
                </a:lnTo>
                <a:lnTo>
                  <a:pt x="4688558" y="0"/>
                </a:lnTo>
                <a:lnTo>
                  <a:pt x="0" y="0"/>
                </a:lnTo>
                <a:lnTo>
                  <a:pt x="0" y="97647"/>
                </a:lnTo>
                <a:close/>
              </a:path>
            </a:pathLst>
          </a:custGeom>
          <a:solidFill>
            <a:srgbClr val="23237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947" y="3913120"/>
            <a:ext cx="5861086" cy="0"/>
          </a:xfrm>
          <a:custGeom>
            <a:avLst/>
            <a:gdLst/>
            <a:ahLst/>
            <a:cxnLst/>
            <a:rect l="l" t="t" r="r" b="b"/>
            <a:pathLst>
              <a:path w="5860671">
                <a:moveTo>
                  <a:pt x="0" y="0"/>
                </a:moveTo>
                <a:lnTo>
                  <a:pt x="5860671" y="0"/>
                </a:lnTo>
              </a:path>
            </a:pathLst>
          </a:custGeom>
          <a:ln w="20827">
            <a:solidFill>
              <a:srgbClr val="2D2D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1091" y="3942427"/>
            <a:ext cx="5274942" cy="0"/>
          </a:xfrm>
          <a:custGeom>
            <a:avLst/>
            <a:gdLst/>
            <a:ahLst/>
            <a:cxnLst/>
            <a:rect l="l" t="t" r="r" b="b"/>
            <a:pathLst>
              <a:path w="5274569">
                <a:moveTo>
                  <a:pt x="0" y="0"/>
                </a:moveTo>
                <a:lnTo>
                  <a:pt x="5274568" y="0"/>
                </a:lnTo>
              </a:path>
            </a:pathLst>
          </a:custGeom>
          <a:ln w="40323">
            <a:solidFill>
              <a:srgbClr val="4747B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UwOTQyN2VlZDYyYmNhNzVjMTAzOWU3ZTFkMDNhO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64*131"/>
  <p:tag name="TABLE_ENDDRAG_RECT" val="0*0*464*13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812</Words>
  <Application>Microsoft Office PowerPoint</Application>
  <PresentationFormat>自定义</PresentationFormat>
  <Paragraphs>137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Lucida Sans Unicode</vt:lpstr>
      <vt:lpstr>Calibri</vt:lpstr>
      <vt:lpstr>Arial</vt:lpstr>
      <vt:lpstr>MS UI Gothic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陈琳颖</dc:creator>
  <cp:lastModifiedBy>Deng Li (Staff)</cp:lastModifiedBy>
  <cp:revision>18</cp:revision>
  <dcterms:created xsi:type="dcterms:W3CDTF">2023-08-09T12:44:00Z</dcterms:created>
  <dcterms:modified xsi:type="dcterms:W3CDTF">2026-09-20T07:03:06Z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2052-12.1.0.17857</vt:lpwstr>
  </property>
  <property fmtid="{D5CDD505-2E9C-101B-9397-08002B2CF9AE}" pid="4" name="MSIP_Label_a618d1e0-f5d7-4da7-8ddd-3b83021a2c85_Enabled">
    <vt:lpwstr>true</vt:lpwstr>
  </property>
  <property fmtid="{D5CDD505-2E9C-101B-9397-08002B2CF9AE}" pid="5" name="MSIP_Label_a618d1e0-f5d7-4da7-8ddd-3b83021a2c85_SetDate">
    <vt:lpwstr>2026-09-20T07:03:06Z</vt:lpwstr>
  </property>
  <property fmtid="{D5CDD505-2E9C-101B-9397-08002B2CF9AE}" pid="6" name="MSIP_Label_a618d1e0-f5d7-4da7-8ddd-3b83021a2c85_Method">
    <vt:lpwstr>Standard</vt:lpwstr>
  </property>
  <property fmtid="{D5CDD505-2E9C-101B-9397-08002B2CF9AE}" pid="7" name="MSIP_Label_a618d1e0-f5d7-4da7-8ddd-3b83021a2c85_Name">
    <vt:lpwstr>Private</vt:lpwstr>
  </property>
  <property fmtid="{D5CDD505-2E9C-101B-9397-08002B2CF9AE}" pid="8" name="MSIP_Label_a618d1e0-f5d7-4da7-8ddd-3b83021a2c85_SiteId">
    <vt:lpwstr>ae323139-093a-4d2a-81a6-5d334bcd9019</vt:lpwstr>
  </property>
  <property fmtid="{D5CDD505-2E9C-101B-9397-08002B2CF9AE}" pid="9" name="MSIP_Label_a618d1e0-f5d7-4da7-8ddd-3b83021a2c85_ActionId">
    <vt:lpwstr>22631528-6b5c-466a-90ea-d14a1cb5381c</vt:lpwstr>
  </property>
  <property fmtid="{D5CDD505-2E9C-101B-9397-08002B2CF9AE}" pid="10" name="MSIP_Label_a618d1e0-f5d7-4da7-8ddd-3b83021a2c85_ContentBits">
    <vt:lpwstr>0</vt:lpwstr>
  </property>
  <property fmtid="{D5CDD505-2E9C-101B-9397-08002B2CF9AE}" pid="11" name="MSIP_Label_a618d1e0-f5d7-4da7-8ddd-3b83021a2c85_Tag">
    <vt:lpwstr>10, 3, 0, 1</vt:lpwstr>
  </property>
</Properties>
</file>